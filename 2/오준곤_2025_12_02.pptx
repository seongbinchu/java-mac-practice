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6" r:id="rId11"/>
    <p:sldId id="265" r:id="rId1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4C8FE24-FD90-48E4-BED9-9399EBCC43DC}" type="datetimeFigureOut">
              <a:rPr lang="ko-KR" altLang="en-US" smtClean="0"/>
              <a:t>2025-12-02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5E03059-FF01-4A69-937A-FF74392B0A2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518325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E03059-FF01-4A69-937A-FF74392B0A28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4237528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E03059-FF01-4A69-937A-FF74392B0A28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834837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E03059-FF01-4A69-937A-FF74392B0A28}" type="slidenum">
              <a:rPr lang="ko-KR" altLang="en-US" smtClean="0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1013459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639AA87-2E5D-7506-0AF8-8D9D1F88E59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F98775BD-702B-33FA-427E-3B695E0B1C0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C6D950A-F82E-0E34-AFCB-0E6F7F7557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56AC3E-8A50-4639-A3C9-73ECF4FE4AF6}" type="datetimeFigureOut">
              <a:rPr lang="ko-KR" altLang="en-US" smtClean="0"/>
              <a:t>2025-12-02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1046D7A-0D60-D6E9-4B87-C1EDA2332D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DE02627-7B2B-1D1A-5B31-D16127555F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132145-C84F-4722-B52C-28027655361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550806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3F3E088-1C52-1F4F-3C45-4410E1A8F0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184636F-2B51-D357-7835-03A04D1295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D7EEBAE-391E-6998-DFD1-772ED62889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56AC3E-8A50-4639-A3C9-73ECF4FE4AF6}" type="datetimeFigureOut">
              <a:rPr lang="ko-KR" altLang="en-US" smtClean="0"/>
              <a:t>2025-12-02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AF6055F-61CA-0E7A-5A31-13928C38CC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A7A6EBE-34C7-A4AC-0A5A-C9D3CBA1B3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132145-C84F-4722-B52C-28027655361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267358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08FADA8-0512-8B4B-F84A-78BD89D85C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FE159DE-79B4-9BD6-C898-FFCE673BA75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9362766-75A8-4267-8BE2-AAD2B76687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56AC3E-8A50-4639-A3C9-73ECF4FE4AF6}" type="datetimeFigureOut">
              <a:rPr lang="ko-KR" altLang="en-US" smtClean="0"/>
              <a:t>2025-12-02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7A0721E-0527-2531-F05E-219A892F9D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451071A-E735-DD1E-CDC2-85E60D9DB0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132145-C84F-4722-B52C-28027655361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373316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4281970-AA95-CD84-5453-ED938A0C3F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81CE35C-70A4-FA45-0559-6669894DA2E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EFA24AED-B9C2-3CD8-685A-0C10AE80760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20CA37F5-594D-96CE-D8D5-373CBCD92B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56AC3E-8A50-4639-A3C9-73ECF4FE4AF6}" type="datetimeFigureOut">
              <a:rPr lang="ko-KR" altLang="en-US" smtClean="0"/>
              <a:t>2025-12-02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BE751B2D-4FBE-6BD2-15D7-CA96284FB7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A81D2C79-577D-F884-854E-7C0A3EA94C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132145-C84F-4722-B52C-28027655361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202426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AE80D64-F306-CF96-1CB7-2670E38525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26EB8A3-2F87-A595-F06A-5092FA5A9B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A1065C41-4CD8-A425-EA6C-E63A09BA140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D0C0C2D7-2E19-13F2-D57B-67A21453C0A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81026C81-6E70-F64F-BE84-6B259694A78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F9FD27E0-FDBB-8A39-3AC1-17B461D309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56AC3E-8A50-4639-A3C9-73ECF4FE4AF6}" type="datetimeFigureOut">
              <a:rPr lang="ko-KR" altLang="en-US" smtClean="0"/>
              <a:t>2025-12-02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70D932F0-7475-12AF-8723-B52A18786A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725309B7-B6DB-BE96-B017-C3468B1156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132145-C84F-4722-B52C-28027655361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357600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18AA9EC-BFAF-D142-33EC-F9820CADC7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32EC8CED-F8F1-7EF1-5882-E9380FD2FB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56AC3E-8A50-4639-A3C9-73ECF4FE4AF6}" type="datetimeFigureOut">
              <a:rPr lang="ko-KR" altLang="en-US" smtClean="0"/>
              <a:t>2025-12-02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A269315D-D666-FDB3-788A-38A32E51E1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C8F01CBE-3A85-DDBD-A3E8-DFC3FD5F04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132145-C84F-4722-B52C-28027655361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316119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FC8CE0B9-F70E-0DE1-6EB4-727E03C78E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56AC3E-8A50-4639-A3C9-73ECF4FE4AF6}" type="datetimeFigureOut">
              <a:rPr lang="ko-KR" altLang="en-US" smtClean="0"/>
              <a:t>2025-12-02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DE35A24F-E230-E546-78DB-4C7EF4D0E8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01F0577-9E22-0803-1DED-BD66B811E0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132145-C84F-4722-B52C-28027655361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77889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33AC679-764D-6BB9-DC3A-0103C55C34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ED03FB1-00A9-1EF5-4A44-AEF9F7B880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A08FEC8C-DEFB-0726-FEDE-A95C9897813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571A46A-0E36-788E-3FEF-C104673A46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56AC3E-8A50-4639-A3C9-73ECF4FE4AF6}" type="datetimeFigureOut">
              <a:rPr lang="ko-KR" altLang="en-US" smtClean="0"/>
              <a:t>2025-12-02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ABF9282-CF28-531B-FF2F-A7E9AC2682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116EE4E-6615-CCB6-0BA0-64616B548A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132145-C84F-4722-B52C-28027655361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150225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7A9EA85-B9FC-0D65-AC1D-24972D3C6D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A9EF7EC3-21A5-FD59-FCB9-7D86C2782D8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85A89D2B-5F43-D36D-6A1F-9EA8F8ECD2D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3A54268-B455-0E26-0F41-219C826BBA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56AC3E-8A50-4639-A3C9-73ECF4FE4AF6}" type="datetimeFigureOut">
              <a:rPr lang="ko-KR" altLang="en-US" smtClean="0"/>
              <a:t>2025-12-02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AB214600-DDE2-791B-D0A8-84611DA240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53EC89C1-2896-4F42-5F47-EDCA8FDAA8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132145-C84F-4722-B52C-28027655361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388830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AEEF459-E8AF-2B3E-0BA4-0F7B742002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E6F8B204-0A68-D286-73F6-9CC5551ACF8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E75A4BD-CBAB-CDC6-69D1-93F57D5953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56AC3E-8A50-4639-A3C9-73ECF4FE4AF6}" type="datetimeFigureOut">
              <a:rPr lang="ko-KR" altLang="en-US" smtClean="0"/>
              <a:t>2025-12-02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C08D424-4123-1ACA-1DBD-EB62497E68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4DE25E7-9B2C-0226-831E-46E72B49FA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132145-C84F-4722-B52C-28027655361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613710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E2E48CC9-2044-186C-17C4-47AB487F464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01A2511C-7662-54B5-8D16-E2E1276B8EA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F69E26C-C649-ED13-7539-AEBF3A0E7A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56AC3E-8A50-4639-A3C9-73ECF4FE4AF6}" type="datetimeFigureOut">
              <a:rPr lang="ko-KR" altLang="en-US" smtClean="0"/>
              <a:t>2025-12-02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F45BB48-E36F-3CA5-A79E-FE83B9A02E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6EA9AE6-A196-3036-B0A0-D85E588453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132145-C84F-4722-B52C-28027655361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255674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5D939CA0-50ED-AFD1-5A9D-897CF24030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BB5010C-A82D-9260-0EC4-AF3425FF85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51F5009-264C-79E1-9F60-6C3E01DE436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C56AC3E-8A50-4639-A3C9-73ECF4FE4AF6}" type="datetimeFigureOut">
              <a:rPr lang="ko-KR" altLang="en-US" smtClean="0"/>
              <a:t>2025-12-02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32C2201-668F-2242-69C9-3A67FF49417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10FD013-137F-6433-7A63-308DC8F2C5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A132145-C84F-4722-B52C-28027655361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318046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9A16542-0628-E584-CA9A-00E869E9B97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 altLang="en-US" dirty="0" err="1"/>
              <a:t>오준곤</a:t>
            </a:r>
            <a:r>
              <a:rPr lang="en-US" altLang="ko-KR" dirty="0"/>
              <a:t>_2025_12_02</a:t>
            </a:r>
            <a:endParaRPr lang="ko-KR" altLang="en-US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91CFF0C5-56BF-EDBD-8F97-A8A7928F0BD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13354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EA3230C-1D1A-90CD-CF50-86B1D421BA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목차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96C33EF-148E-7365-EBCD-93A3B16CE0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altLang="ko-KR" dirty="0"/>
              <a:t>HTML </a:t>
            </a:r>
            <a:r>
              <a:rPr lang="ko-KR" altLang="en-US" dirty="0"/>
              <a:t>기초</a:t>
            </a:r>
            <a:endParaRPr lang="en-US" altLang="ko-KR" dirty="0"/>
          </a:p>
          <a:p>
            <a:r>
              <a:rPr lang="ko-KR" altLang="en-US" dirty="0"/>
              <a:t>각종 주요 태그</a:t>
            </a:r>
            <a:endParaRPr lang="en-US" altLang="ko-KR" dirty="0"/>
          </a:p>
          <a:p>
            <a:pPr lvl="1"/>
            <a:r>
              <a:rPr lang="en-US" altLang="ko-KR" dirty="0"/>
              <a:t>&lt;h1&gt; to &lt;h5&gt;</a:t>
            </a:r>
          </a:p>
          <a:p>
            <a:pPr lvl="1"/>
            <a:r>
              <a:rPr lang="en-US" altLang="ko-KR" dirty="0"/>
              <a:t>&lt;b&gt; and</a:t>
            </a:r>
            <a:r>
              <a:rPr lang="ko-KR" altLang="en-US" dirty="0"/>
              <a:t> </a:t>
            </a:r>
            <a:r>
              <a:rPr lang="en-US" altLang="ko-KR" dirty="0"/>
              <a:t>&lt;strong&gt;</a:t>
            </a:r>
          </a:p>
          <a:p>
            <a:pPr lvl="1"/>
            <a:r>
              <a:rPr lang="en-US" altLang="ko-KR" dirty="0"/>
              <a:t>&lt;</a:t>
            </a:r>
            <a:r>
              <a:rPr lang="en-US" altLang="ko-KR" dirty="0" err="1"/>
              <a:t>ul</a:t>
            </a:r>
            <a:r>
              <a:rPr lang="en-US" altLang="ko-KR" dirty="0"/>
              <a:t>&gt; and</a:t>
            </a:r>
            <a:r>
              <a:rPr lang="ko-KR" altLang="en-US" dirty="0"/>
              <a:t> </a:t>
            </a:r>
            <a:r>
              <a:rPr lang="en-US" altLang="ko-KR" dirty="0"/>
              <a:t>&lt;</a:t>
            </a:r>
            <a:r>
              <a:rPr lang="en-US" altLang="ko-KR" dirty="0" err="1"/>
              <a:t>ol</a:t>
            </a:r>
            <a:r>
              <a:rPr lang="en-US" altLang="ko-KR" dirty="0"/>
              <a:t>&gt;</a:t>
            </a:r>
          </a:p>
          <a:p>
            <a:pPr lvl="1"/>
            <a:r>
              <a:rPr lang="en-US" altLang="ko-KR" dirty="0"/>
              <a:t>&lt;</a:t>
            </a:r>
            <a:r>
              <a:rPr lang="en-US" altLang="ko-KR" dirty="0" err="1"/>
              <a:t>img</a:t>
            </a:r>
            <a:r>
              <a:rPr lang="en-US" altLang="ko-KR" dirty="0"/>
              <a:t>&gt;</a:t>
            </a:r>
          </a:p>
          <a:p>
            <a:pPr lvl="1"/>
            <a:r>
              <a:rPr lang="en-US" altLang="ko-KR" dirty="0"/>
              <a:t>&lt;a&gt;</a:t>
            </a:r>
          </a:p>
          <a:p>
            <a:pPr lvl="1"/>
            <a:endParaRPr lang="en-US" altLang="ko-KR" dirty="0"/>
          </a:p>
          <a:p>
            <a:r>
              <a:rPr lang="en-US" altLang="ko-KR" dirty="0"/>
              <a:t>CSS / JavaScript selector</a:t>
            </a:r>
          </a:p>
          <a:p>
            <a:r>
              <a:rPr lang="en-US" altLang="ko-KR" dirty="0"/>
              <a:t>entity </a:t>
            </a:r>
            <a:r>
              <a:rPr lang="ko-KR" altLang="en-US" dirty="0"/>
              <a:t>사용법</a:t>
            </a:r>
          </a:p>
        </p:txBody>
      </p:sp>
    </p:spTree>
    <p:extLst>
      <p:ext uri="{BB962C8B-B14F-4D97-AF65-F5344CB8AC3E}">
        <p14:creationId xmlns:p14="http://schemas.microsoft.com/office/powerpoint/2010/main" val="21821065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AAD7C6B-8B10-3A43-35CB-F7AF28F738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HTML </a:t>
            </a:r>
            <a:r>
              <a:rPr lang="ko-KR" altLang="en-US" dirty="0"/>
              <a:t>기초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FCAABB4-3810-443F-20F2-C1D44EC3F3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altLang="ko-KR" dirty="0"/>
              <a:t>HTML</a:t>
            </a:r>
            <a:r>
              <a:rPr lang="ko-KR" altLang="en-US" dirty="0"/>
              <a:t>이란</a:t>
            </a:r>
            <a:r>
              <a:rPr lang="en-US" altLang="ko-KR" dirty="0"/>
              <a:t>?</a:t>
            </a:r>
            <a:r>
              <a:rPr lang="ko-KR" altLang="en-US" dirty="0"/>
              <a:t> </a:t>
            </a:r>
            <a:endParaRPr lang="en-US" altLang="ko-KR" dirty="0"/>
          </a:p>
          <a:p>
            <a:pPr lvl="1"/>
            <a:r>
              <a:rPr lang="en-US" altLang="ko-KR" dirty="0" err="1"/>
              <a:t>HyperText</a:t>
            </a:r>
            <a:r>
              <a:rPr lang="en-US" altLang="ko-KR" dirty="0"/>
              <a:t> Markup Language – </a:t>
            </a:r>
            <a:r>
              <a:rPr lang="ko-KR" altLang="en-US" dirty="0"/>
              <a:t>하이퍼텍스트를 다루는 마크업 언어</a:t>
            </a:r>
            <a:endParaRPr lang="en-US" altLang="ko-KR" dirty="0"/>
          </a:p>
          <a:p>
            <a:pPr lvl="1"/>
            <a:r>
              <a:rPr lang="ko-KR" altLang="en-US" dirty="0"/>
              <a:t>하이퍼텍스트란</a:t>
            </a:r>
            <a:r>
              <a:rPr lang="en-US" altLang="ko-KR" dirty="0"/>
              <a:t>? – </a:t>
            </a:r>
            <a:r>
              <a:rPr lang="ko-KR" altLang="en-US" dirty="0"/>
              <a:t>시작과 끝이 정해져 있지 않은 문서</a:t>
            </a:r>
            <a:endParaRPr lang="en-US" altLang="ko-KR" dirty="0"/>
          </a:p>
          <a:p>
            <a:pPr lvl="1"/>
            <a:r>
              <a:rPr lang="en-US" altLang="ko-KR" dirty="0"/>
              <a:t>Markup Language</a:t>
            </a:r>
            <a:r>
              <a:rPr lang="ko-KR" altLang="en-US" dirty="0"/>
              <a:t>란</a:t>
            </a:r>
            <a:r>
              <a:rPr lang="en-US" altLang="ko-KR" dirty="0"/>
              <a:t>? –</a:t>
            </a:r>
            <a:r>
              <a:rPr lang="ko-KR" altLang="en-US" dirty="0"/>
              <a:t>태그로 이루어진 언어</a:t>
            </a:r>
            <a:r>
              <a:rPr lang="en-US" altLang="ko-KR" dirty="0"/>
              <a:t>(XML</a:t>
            </a:r>
            <a:r>
              <a:rPr lang="ko-KR" altLang="en-US" dirty="0"/>
              <a:t>등</a:t>
            </a:r>
            <a:r>
              <a:rPr lang="en-US" altLang="ko-KR" dirty="0"/>
              <a:t>)</a:t>
            </a:r>
          </a:p>
          <a:p>
            <a:pPr lvl="2">
              <a:buFont typeface="Wingdings" panose="05000000000000000000" pitchFamily="2" charset="2"/>
              <a:buChar char="è"/>
            </a:pPr>
            <a:r>
              <a:rPr lang="ko-KR" altLang="en-US" dirty="0"/>
              <a:t> 태그는 </a:t>
            </a:r>
            <a:r>
              <a:rPr lang="en-US" altLang="ko-KR" dirty="0"/>
              <a:t>&lt;tag&gt;…&lt;/tag&gt;</a:t>
            </a:r>
            <a:r>
              <a:rPr lang="ko-KR" altLang="en-US" dirty="0"/>
              <a:t>와 같이 표기됨</a:t>
            </a:r>
            <a:endParaRPr lang="en-US" altLang="ko-KR" dirty="0"/>
          </a:p>
          <a:p>
            <a:pPr lvl="1">
              <a:buFont typeface="Wingdings" panose="05000000000000000000" pitchFamily="2" charset="2"/>
              <a:buChar char="è"/>
            </a:pPr>
            <a:endParaRPr lang="en-US" altLang="ko-KR" dirty="0"/>
          </a:p>
          <a:p>
            <a:pPr lvl="1"/>
            <a:r>
              <a:rPr lang="ko-KR" altLang="en-US" dirty="0"/>
              <a:t>태그는 복수개의 속성을 가질 수 있다</a:t>
            </a:r>
            <a:r>
              <a:rPr lang="en-US" altLang="ko-KR" dirty="0"/>
              <a:t>. </a:t>
            </a:r>
          </a:p>
          <a:p>
            <a:pPr lvl="1"/>
            <a:r>
              <a:rPr lang="en-US" altLang="ko-KR" dirty="0"/>
              <a:t>&lt;div id=＂header＂ role=＂banner＂&gt; </a:t>
            </a:r>
          </a:p>
          <a:p>
            <a:pPr lvl="2">
              <a:buFont typeface="Wingdings" panose="05000000000000000000" pitchFamily="2" charset="2"/>
              <a:buChar char="è"/>
            </a:pPr>
            <a:r>
              <a:rPr lang="ko-KR" altLang="en-US" dirty="0" err="1"/>
              <a:t>태그명</a:t>
            </a:r>
            <a:r>
              <a:rPr lang="en-US" altLang="ko-KR" dirty="0"/>
              <a:t>:div, id</a:t>
            </a:r>
            <a:r>
              <a:rPr lang="ko-KR" altLang="en-US" dirty="0"/>
              <a:t>속성의 값은 </a:t>
            </a:r>
            <a:r>
              <a:rPr lang="en-US" altLang="ko-KR" dirty="0"/>
              <a:t>“header”, role</a:t>
            </a:r>
            <a:r>
              <a:rPr lang="ko-KR" altLang="en-US" dirty="0"/>
              <a:t>속성의 값은 </a:t>
            </a:r>
            <a:r>
              <a:rPr lang="en-US" altLang="ko-KR" dirty="0"/>
              <a:t>“banner”</a:t>
            </a:r>
          </a:p>
          <a:p>
            <a:pPr lvl="2">
              <a:buFont typeface="Wingdings" panose="05000000000000000000" pitchFamily="2" charset="2"/>
              <a:buChar char="è"/>
            </a:pPr>
            <a:endParaRPr lang="ko-KR" altLang="en-US" dirty="0"/>
          </a:p>
          <a:p>
            <a:pPr lvl="1"/>
            <a:r>
              <a:rPr lang="en-US" altLang="ko-KR" dirty="0"/>
              <a:t>HTML</a:t>
            </a:r>
            <a:r>
              <a:rPr lang="ko-KR" altLang="en-US" dirty="0"/>
              <a:t>문서는 텍스트파일이다</a:t>
            </a:r>
            <a:r>
              <a:rPr lang="en-US" altLang="ko-KR" dirty="0"/>
              <a:t>. (</a:t>
            </a:r>
            <a:r>
              <a:rPr lang="ko-KR" altLang="en-US" dirty="0"/>
              <a:t>메모장에서 볼 수 있다</a:t>
            </a:r>
            <a:r>
              <a:rPr lang="en-US" altLang="ko-KR" dirty="0"/>
              <a:t>)</a:t>
            </a:r>
          </a:p>
          <a:p>
            <a:pPr lvl="1"/>
            <a:r>
              <a:rPr lang="ko-KR" altLang="en-US" dirty="0"/>
              <a:t>확장자는</a:t>
            </a:r>
            <a:r>
              <a:rPr lang="en-US" altLang="ko-KR" dirty="0"/>
              <a:t> .</a:t>
            </a:r>
            <a:r>
              <a:rPr lang="en-US" altLang="ko-KR" dirty="0" err="1"/>
              <a:t>htm</a:t>
            </a:r>
            <a:r>
              <a:rPr lang="en-US" altLang="ko-KR" dirty="0"/>
              <a:t> </a:t>
            </a:r>
            <a:r>
              <a:rPr lang="ko-KR" altLang="en-US" dirty="0"/>
              <a:t>혹은</a:t>
            </a:r>
            <a:r>
              <a:rPr lang="en-US" altLang="ko-KR" dirty="0"/>
              <a:t> .html</a:t>
            </a:r>
          </a:p>
          <a:p>
            <a:pPr lvl="1"/>
            <a:r>
              <a:rPr lang="ko-KR" altLang="en-US" dirty="0"/>
              <a:t>결과 확인은 </a:t>
            </a:r>
            <a:r>
              <a:rPr lang="ko-KR" altLang="en-US" dirty="0" err="1"/>
              <a:t>웹브라우저에서</a:t>
            </a:r>
            <a:r>
              <a:rPr lang="ko-KR" altLang="en-US" dirty="0"/>
              <a:t> 확인할 수 있다</a:t>
            </a:r>
            <a:r>
              <a:rPr lang="en-US" altLang="ko-KR" dirty="0"/>
              <a:t>.</a:t>
            </a:r>
          </a:p>
          <a:p>
            <a:pPr lvl="1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2533577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194853A-F9BB-7C6C-EDF1-D9FF0A6145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각종 주요 태그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D8EB61B-9E41-E5C4-0813-CFC0AEE360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&lt;h1&gt; to</a:t>
            </a:r>
            <a:r>
              <a:rPr lang="ko-KR" altLang="en-US" dirty="0"/>
              <a:t> </a:t>
            </a:r>
            <a:r>
              <a:rPr lang="en-US" altLang="ko-KR" dirty="0"/>
              <a:t>&lt;h5&gt;</a:t>
            </a:r>
          </a:p>
          <a:p>
            <a:pPr lvl="1"/>
            <a:r>
              <a:rPr lang="ko-KR" altLang="en-US" dirty="0"/>
              <a:t>글자의 크기를 변경하고 볼드체로 만든다</a:t>
            </a:r>
            <a:r>
              <a:rPr lang="en-US" altLang="ko-KR" dirty="0"/>
              <a:t>.</a:t>
            </a:r>
          </a:p>
          <a:p>
            <a:pPr lvl="1"/>
            <a:r>
              <a:rPr lang="ko-KR" altLang="en-US" dirty="0"/>
              <a:t>겉으로 보이는 기능은 단순해 보이지만</a:t>
            </a:r>
            <a:r>
              <a:rPr lang="en-US" altLang="ko-KR" dirty="0"/>
              <a:t>, </a:t>
            </a:r>
            <a:r>
              <a:rPr lang="ko-KR" altLang="en-US" dirty="0"/>
              <a:t>실제로는 </a:t>
            </a:r>
            <a:r>
              <a:rPr lang="en-US" altLang="ko-KR" dirty="0"/>
              <a:t>&lt;h1&gt;</a:t>
            </a:r>
            <a:r>
              <a:rPr lang="ko-KR" altLang="en-US" dirty="0"/>
              <a:t>태그를 통하여 전체 웹 어플리케이션이 어떤 목적으로 돌아가는가를 서술하고</a:t>
            </a:r>
            <a:r>
              <a:rPr lang="en-US" altLang="ko-KR" dirty="0"/>
              <a:t>, </a:t>
            </a:r>
            <a:r>
              <a:rPr lang="ko-KR" altLang="en-US" dirty="0"/>
              <a:t>그 아래로 하위 페이지와 하위 메뉴들의 내용을 서술한다</a:t>
            </a:r>
            <a:r>
              <a:rPr lang="en-US" altLang="ko-KR" dirty="0"/>
              <a:t>.</a:t>
            </a:r>
          </a:p>
          <a:p>
            <a:pPr lvl="1"/>
            <a:r>
              <a:rPr lang="ko-KR" altLang="en-US" dirty="0"/>
              <a:t>구글 봇이 이러한 헤더들을 기반으로 동작 및 검색하기에 검색 노출이 필요하다면 반드시 염두에 두어야 한다</a:t>
            </a:r>
            <a:r>
              <a:rPr lang="en-US" altLang="ko-KR" dirty="0"/>
              <a:t>.</a:t>
            </a:r>
          </a:p>
          <a:p>
            <a:pPr lvl="1"/>
            <a:endParaRPr lang="en-US" altLang="ko-KR" dirty="0"/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687036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0F34CC3-55A7-1A2D-1907-1A75BB3394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각종 주요 태그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16921B2-B025-3B65-F190-910B3F8EE6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1030712" cy="4351338"/>
          </a:xfrm>
        </p:spPr>
        <p:txBody>
          <a:bodyPr/>
          <a:lstStyle/>
          <a:p>
            <a:r>
              <a:rPr lang="en-US" altLang="ko-KR" dirty="0"/>
              <a:t>&lt;b&gt; and</a:t>
            </a:r>
            <a:r>
              <a:rPr lang="ko-KR" altLang="en-US" dirty="0"/>
              <a:t> </a:t>
            </a:r>
            <a:r>
              <a:rPr lang="en-US" altLang="ko-KR" dirty="0"/>
              <a:t>&lt;strong&gt;</a:t>
            </a:r>
          </a:p>
          <a:p>
            <a:pPr lvl="1"/>
            <a:r>
              <a:rPr lang="ko-KR" altLang="en-US" dirty="0"/>
              <a:t>겉으로 보기에는 둘 다 글자를 볼드체로 만든다</a:t>
            </a:r>
            <a:r>
              <a:rPr lang="en-US" altLang="ko-KR" dirty="0"/>
              <a:t>.</a:t>
            </a:r>
          </a:p>
          <a:p>
            <a:pPr lvl="1"/>
            <a:r>
              <a:rPr lang="ko-KR" altLang="en-US" dirty="0"/>
              <a:t>그러나 단순히 볼드체로</a:t>
            </a:r>
            <a:r>
              <a:rPr lang="en-US" altLang="ko-KR" dirty="0"/>
              <a:t> </a:t>
            </a:r>
            <a:r>
              <a:rPr lang="ko-KR" altLang="en-US" dirty="0"/>
              <a:t>만들어주는 </a:t>
            </a:r>
            <a:r>
              <a:rPr lang="en-US" altLang="ko-KR" dirty="0"/>
              <a:t>&lt;b&gt;</a:t>
            </a:r>
            <a:r>
              <a:rPr lang="ko-KR" altLang="en-US" dirty="0"/>
              <a:t>와 다르게 </a:t>
            </a:r>
            <a:r>
              <a:rPr lang="en-US" altLang="ko-KR" dirty="0"/>
              <a:t>&lt;strong&gt;</a:t>
            </a:r>
            <a:r>
              <a:rPr lang="ko-KR" altLang="en-US" dirty="0"/>
              <a:t>은 해당 글자가 중요함을 강조하는 의미를 나타낸다</a:t>
            </a:r>
            <a:r>
              <a:rPr lang="en-US" altLang="ko-KR" dirty="0"/>
              <a:t>.</a:t>
            </a:r>
          </a:p>
          <a:p>
            <a:pPr lvl="1"/>
            <a:r>
              <a:rPr lang="ko-KR" altLang="en-US" dirty="0"/>
              <a:t>예를 들어 어떤 </a:t>
            </a:r>
            <a:r>
              <a:rPr lang="ko-KR" altLang="en-US" dirty="0" err="1"/>
              <a:t>웹어플리케이션에서는</a:t>
            </a:r>
            <a:r>
              <a:rPr lang="ko-KR" altLang="en-US" dirty="0"/>
              <a:t> 시각장애인들을 위한 음성 서비스를 할 때 </a:t>
            </a:r>
            <a:r>
              <a:rPr lang="en-US" altLang="ko-KR" dirty="0"/>
              <a:t>&lt;strong&gt;</a:t>
            </a:r>
            <a:r>
              <a:rPr lang="ko-KR" altLang="en-US" dirty="0"/>
              <a:t>태그로 표기된 문자에는 발음에 강세를 넣어준다</a:t>
            </a:r>
            <a:r>
              <a:rPr lang="en-US" altLang="ko-KR" dirty="0"/>
              <a:t>. </a:t>
            </a:r>
          </a:p>
          <a:p>
            <a:pPr lvl="1"/>
            <a:r>
              <a:rPr lang="ko-KR" altLang="en-US" dirty="0"/>
              <a:t>이렇게 </a:t>
            </a:r>
            <a:r>
              <a:rPr lang="en-US" altLang="ko-KR" dirty="0"/>
              <a:t>&lt;strong&gt;</a:t>
            </a:r>
            <a:r>
              <a:rPr lang="ko-KR" altLang="en-US" dirty="0"/>
              <a:t>태그처럼 표현되는 형태보다 내포한 의미가 더 중요한 태그들을 </a:t>
            </a:r>
            <a:r>
              <a:rPr lang="en-US" altLang="ko-KR" dirty="0"/>
              <a:t>Semantic</a:t>
            </a:r>
            <a:r>
              <a:rPr lang="ko-KR" altLang="en-US" dirty="0"/>
              <a:t>태그라고 한다</a:t>
            </a:r>
            <a:endParaRPr lang="en-US" altLang="ko-KR" dirty="0"/>
          </a:p>
          <a:p>
            <a:pPr lvl="1"/>
            <a:endParaRPr lang="en-US" altLang="ko-KR" dirty="0"/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7223369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CE0C946-B5EC-BBB3-9FF7-C1DAACC1D1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각종 주요 태그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EF6289A-77F7-3FA4-6D26-2E912A18EE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ko-KR" sz="2400" dirty="0"/>
              <a:t>&lt;</a:t>
            </a:r>
            <a:r>
              <a:rPr lang="en-US" altLang="ko-KR" sz="2400" dirty="0" err="1"/>
              <a:t>ul</a:t>
            </a:r>
            <a:r>
              <a:rPr lang="en-US" altLang="ko-KR" sz="2400" dirty="0"/>
              <a:t>&gt; and</a:t>
            </a:r>
            <a:r>
              <a:rPr lang="ko-KR" altLang="en-US" sz="2400" dirty="0"/>
              <a:t> </a:t>
            </a:r>
            <a:r>
              <a:rPr lang="en-US" altLang="ko-KR" sz="2400" dirty="0"/>
              <a:t>&lt;</a:t>
            </a:r>
            <a:r>
              <a:rPr lang="en-US" altLang="ko-KR" sz="2400" dirty="0" err="1"/>
              <a:t>ol</a:t>
            </a:r>
            <a:r>
              <a:rPr lang="en-US" altLang="ko-KR" sz="2400" dirty="0"/>
              <a:t>&gt;</a:t>
            </a:r>
          </a:p>
          <a:p>
            <a:pPr lvl="1"/>
            <a:r>
              <a:rPr lang="ko-KR" altLang="en-US" sz="2000" dirty="0"/>
              <a:t>목록을 만들 때 사용된다</a:t>
            </a:r>
            <a:r>
              <a:rPr lang="en-US" altLang="ko-KR" sz="2000" dirty="0"/>
              <a:t>.</a:t>
            </a:r>
          </a:p>
          <a:p>
            <a:pPr lvl="1"/>
            <a:r>
              <a:rPr lang="en-US" altLang="ko-KR" sz="2000" dirty="0"/>
              <a:t>&lt;</a:t>
            </a:r>
            <a:r>
              <a:rPr lang="en-US" altLang="ko-KR" sz="2000" dirty="0" err="1"/>
              <a:t>ul</a:t>
            </a:r>
            <a:r>
              <a:rPr lang="en-US" altLang="ko-KR" sz="2000" dirty="0"/>
              <a:t>&gt; </a:t>
            </a:r>
            <a:r>
              <a:rPr lang="ko-KR" altLang="en-US" sz="2000" dirty="0"/>
              <a:t>태그는 </a:t>
            </a:r>
            <a:r>
              <a:rPr lang="en-US" altLang="ko-KR" sz="2000" dirty="0"/>
              <a:t>unordered list, &lt;</a:t>
            </a:r>
            <a:r>
              <a:rPr lang="en-US" altLang="ko-KR" sz="2000" dirty="0" err="1"/>
              <a:t>ol</a:t>
            </a:r>
            <a:r>
              <a:rPr lang="en-US" altLang="ko-KR" sz="2000" dirty="0"/>
              <a:t>&gt;</a:t>
            </a:r>
            <a:r>
              <a:rPr lang="ko-KR" altLang="en-US" sz="2000" dirty="0"/>
              <a:t>태그는 </a:t>
            </a:r>
            <a:r>
              <a:rPr lang="en-US" altLang="ko-KR" sz="2000" dirty="0"/>
              <a:t>ordered list</a:t>
            </a:r>
            <a:r>
              <a:rPr lang="ko-KR" altLang="en-US" sz="2000" dirty="0"/>
              <a:t>를 의미</a:t>
            </a:r>
            <a:endParaRPr lang="en-US" altLang="ko-KR" sz="2000" dirty="0"/>
          </a:p>
          <a:p>
            <a:pPr lvl="1"/>
            <a:r>
              <a:rPr lang="en-US" altLang="ko-KR" sz="2000" dirty="0"/>
              <a:t>&lt;</a:t>
            </a:r>
            <a:r>
              <a:rPr lang="en-US" altLang="ko-KR" sz="2000" dirty="0" err="1"/>
              <a:t>ul</a:t>
            </a:r>
            <a:r>
              <a:rPr lang="en-US" altLang="ko-KR" sz="2000" dirty="0"/>
              <a:t>&gt;</a:t>
            </a:r>
            <a:r>
              <a:rPr lang="ko-KR" altLang="en-US" sz="2000" dirty="0"/>
              <a:t>태그는 모든 </a:t>
            </a:r>
            <a:r>
              <a:rPr lang="ko-KR" altLang="en-US" sz="2000" dirty="0" err="1"/>
              <a:t>불렛</a:t>
            </a:r>
            <a:r>
              <a:rPr lang="ko-KR" altLang="en-US" sz="2000" dirty="0"/>
              <a:t> 표시가 동일하고</a:t>
            </a:r>
            <a:r>
              <a:rPr lang="en-US" altLang="ko-KR" sz="2000" dirty="0"/>
              <a:t>, &lt;</a:t>
            </a:r>
            <a:r>
              <a:rPr lang="en-US" altLang="ko-KR" sz="2000" dirty="0" err="1"/>
              <a:t>ol</a:t>
            </a:r>
            <a:r>
              <a:rPr lang="en-US" altLang="ko-KR" sz="2000" dirty="0"/>
              <a:t>&gt;</a:t>
            </a:r>
            <a:r>
              <a:rPr lang="ko-KR" altLang="en-US" sz="2000" dirty="0"/>
              <a:t>태그는 위에서부터 순서를 가지고 내려온다</a:t>
            </a:r>
            <a:r>
              <a:rPr lang="en-US" altLang="ko-KR" sz="2000" dirty="0"/>
              <a:t>.</a:t>
            </a:r>
          </a:p>
          <a:p>
            <a:pPr lvl="1"/>
            <a:endParaRPr lang="en-US" altLang="ko-KR" sz="2000" dirty="0"/>
          </a:p>
          <a:p>
            <a:pPr lvl="1"/>
            <a:r>
              <a:rPr lang="en-US" altLang="ko-KR" sz="2000" dirty="0"/>
              <a:t>type </a:t>
            </a:r>
            <a:r>
              <a:rPr lang="ko-KR" altLang="en-US" sz="2000" dirty="0"/>
              <a:t>속성으로 다양한 헤더 문자를 지원하고 특히 </a:t>
            </a:r>
            <a:r>
              <a:rPr lang="en-US" altLang="ko-KR" sz="2000" dirty="0"/>
              <a:t>&lt;</a:t>
            </a:r>
            <a:r>
              <a:rPr lang="en-US" altLang="ko-KR" sz="2000" dirty="0" err="1"/>
              <a:t>ol</a:t>
            </a:r>
            <a:r>
              <a:rPr lang="en-US" altLang="ko-KR" sz="2000" dirty="0"/>
              <a:t>&gt;</a:t>
            </a:r>
            <a:r>
              <a:rPr lang="ko-KR" altLang="en-US" sz="2000" dirty="0"/>
              <a:t> 태그의 경우 다양한 표기법을 지원한다</a:t>
            </a:r>
            <a:r>
              <a:rPr lang="en-US" altLang="ko-KR" sz="2000" dirty="0"/>
              <a:t>.</a:t>
            </a:r>
          </a:p>
          <a:p>
            <a:pPr lvl="1"/>
            <a:endParaRPr lang="en-US" altLang="ko-KR" sz="2000" dirty="0"/>
          </a:p>
          <a:p>
            <a:pPr marL="0" indent="0">
              <a:buNone/>
            </a:pPr>
            <a:endParaRPr lang="en-US" altLang="ko-KR" sz="2400" dirty="0"/>
          </a:p>
          <a:p>
            <a:endParaRPr lang="ko-KR" altLang="en-US" sz="2400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110985B3-9D5B-79F8-5A26-DE9A1235FB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49933" y="4547917"/>
            <a:ext cx="2438019" cy="2211977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AEC032A7-E4E7-D2C5-5029-EE795E7F871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53062" y="4547917"/>
            <a:ext cx="1788986" cy="2239545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4" name="화살표: 오른쪽 3">
            <a:extLst>
              <a:ext uri="{FF2B5EF4-FFF2-40B4-BE49-F238E27FC236}">
                <a16:creationId xmlns:a16="http://schemas.microsoft.com/office/drawing/2014/main" id="{4F22E7FF-138B-4B68-808A-73237242C447}"/>
              </a:ext>
            </a:extLst>
          </p:cNvPr>
          <p:cNvSpPr/>
          <p:nvPr/>
        </p:nvSpPr>
        <p:spPr>
          <a:xfrm>
            <a:off x="4270850" y="4747214"/>
            <a:ext cx="1122467" cy="66800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화살표: 오른쪽 7">
            <a:extLst>
              <a:ext uri="{FF2B5EF4-FFF2-40B4-BE49-F238E27FC236}">
                <a16:creationId xmlns:a16="http://schemas.microsoft.com/office/drawing/2014/main" id="{0F0B0B94-9FFB-461B-B695-3D2677765560}"/>
              </a:ext>
            </a:extLst>
          </p:cNvPr>
          <p:cNvSpPr/>
          <p:nvPr/>
        </p:nvSpPr>
        <p:spPr>
          <a:xfrm>
            <a:off x="4247697" y="5889829"/>
            <a:ext cx="1122467" cy="66800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902652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65153DF-B39A-68B5-678E-EC0A9451B8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각종 주요 태그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3D3EAFA-2ABE-102C-A4A0-C0CB881E38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1142083" cy="4351338"/>
          </a:xfrm>
        </p:spPr>
        <p:txBody>
          <a:bodyPr>
            <a:normAutofit/>
          </a:bodyPr>
          <a:lstStyle/>
          <a:p>
            <a:r>
              <a:rPr lang="en-US" altLang="ko-KR" dirty="0"/>
              <a:t>&lt;</a:t>
            </a:r>
            <a:r>
              <a:rPr lang="en-US" altLang="ko-KR" dirty="0" err="1"/>
              <a:t>img</a:t>
            </a:r>
            <a:r>
              <a:rPr lang="en-US" altLang="ko-KR" dirty="0"/>
              <a:t>&gt;</a:t>
            </a:r>
          </a:p>
          <a:p>
            <a:pPr lvl="1"/>
            <a:r>
              <a:rPr lang="ko-KR" altLang="en-US" dirty="0"/>
              <a:t>이미지를 불러오는데 사용하는 태그</a:t>
            </a:r>
            <a:endParaRPr lang="en-US" altLang="ko-KR" dirty="0"/>
          </a:p>
          <a:p>
            <a:pPr lvl="1"/>
            <a:r>
              <a:rPr lang="en-US" altLang="ko-KR" dirty="0" err="1"/>
              <a:t>src</a:t>
            </a:r>
            <a:r>
              <a:rPr lang="en-US" altLang="ko-KR" dirty="0"/>
              <a:t> </a:t>
            </a:r>
            <a:r>
              <a:rPr lang="ko-KR" altLang="en-US" dirty="0"/>
              <a:t>속성에 상대경로</a:t>
            </a:r>
            <a:r>
              <a:rPr lang="en-US" altLang="ko-KR" dirty="0"/>
              <a:t>/</a:t>
            </a:r>
            <a:r>
              <a:rPr lang="ko-KR" altLang="en-US" dirty="0"/>
              <a:t>절대경로</a:t>
            </a:r>
            <a:r>
              <a:rPr lang="en-US" altLang="ko-KR" dirty="0"/>
              <a:t>/</a:t>
            </a:r>
            <a:r>
              <a:rPr lang="ko-KR" altLang="en-US" dirty="0"/>
              <a:t>웹 이미지 주소를 입력하여 그림을 불러온다</a:t>
            </a:r>
            <a:r>
              <a:rPr lang="en-US" altLang="ko-KR" dirty="0"/>
              <a:t>.</a:t>
            </a:r>
          </a:p>
          <a:p>
            <a:pPr lvl="1"/>
            <a:r>
              <a:rPr lang="en-US" altLang="ko-KR" dirty="0"/>
              <a:t>alt </a:t>
            </a:r>
            <a:r>
              <a:rPr lang="ko-KR" altLang="en-US" dirty="0"/>
              <a:t>속성에 </a:t>
            </a:r>
            <a:r>
              <a:rPr lang="en-US" altLang="ko-KR" dirty="0" err="1"/>
              <a:t>img</a:t>
            </a:r>
            <a:r>
              <a:rPr lang="ko-KR" altLang="en-US" dirty="0"/>
              <a:t>가 불러오지 못할 경우 출력할 문구를 입력한다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4D1102A-F239-4E18-9C46-90F640927FE7}"/>
              </a:ext>
            </a:extLst>
          </p:cNvPr>
          <p:cNvSpPr txBox="1"/>
          <p:nvPr/>
        </p:nvSpPr>
        <p:spPr>
          <a:xfrm>
            <a:off x="120292" y="3579884"/>
            <a:ext cx="23298686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예시</a:t>
            </a:r>
            <a:endParaRPr lang="en-US" altLang="ko-KR" dirty="0"/>
          </a:p>
          <a:p>
            <a:pPr lvl="1"/>
            <a:r>
              <a:rPr lang="en-US" altLang="ko-KR" dirty="0"/>
              <a:t>&lt;</a:t>
            </a:r>
            <a:r>
              <a:rPr lang="en-US" altLang="ko-KR" dirty="0" err="1"/>
              <a:t>img</a:t>
            </a:r>
            <a:r>
              <a:rPr lang="en-US" altLang="ko-KR" dirty="0"/>
              <a:t> </a:t>
            </a:r>
            <a:r>
              <a:rPr lang="en-US" altLang="ko-KR" dirty="0" err="1"/>
              <a:t>src</a:t>
            </a:r>
            <a:r>
              <a:rPr lang="en-US" altLang="ko-KR" dirty="0"/>
              <a:t>=https://i.namu.wiki/i/lTK03nm8jdBK2wcyjsv4QiUAf_9XeJ74vBIE0hjziRo2tCDzq5iv4OV-ctif2t_ZoPSUN5sHN3bE_W_3VMdPhFOouGQ1Tte3XSSnijzrRaGc1TM9Tvb-I0xaRCdu69ke5M47pBOzPvuTXjNW-4YcCw.webp </a:t>
            </a:r>
          </a:p>
          <a:p>
            <a:pPr lvl="1"/>
            <a:r>
              <a:rPr lang="en-US" altLang="ko-KR" dirty="0"/>
              <a:t>  alt=“</a:t>
            </a:r>
            <a:r>
              <a:rPr lang="ko-KR" altLang="en-US" dirty="0"/>
              <a:t>치킨</a:t>
            </a:r>
            <a:r>
              <a:rPr lang="en-US" altLang="ko-KR" dirty="0"/>
              <a:t>”/&gt;</a:t>
            </a:r>
            <a:endParaRPr lang="ko-KR" altLang="en-US" dirty="0"/>
          </a:p>
          <a:p>
            <a:endParaRPr lang="ko-KR" alt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502F8115-24D6-486D-ACCA-8D63032C7C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20701" y="4944332"/>
            <a:ext cx="2242293" cy="1548544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EA5303FD-F885-4C67-BF0E-24456E7BFEE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97104" y="4847682"/>
            <a:ext cx="2814148" cy="1645194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2530FACB-93C8-4136-8E4D-4DF5DC295914}"/>
              </a:ext>
            </a:extLst>
          </p:cNvPr>
          <p:cNvSpPr txBox="1"/>
          <p:nvPr/>
        </p:nvSpPr>
        <p:spPr>
          <a:xfrm>
            <a:off x="6995926" y="6150254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/>
              <a:t>정상출력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52D2BA9-F52D-4EFB-BC85-3AD929474C2D}"/>
              </a:ext>
            </a:extLst>
          </p:cNvPr>
          <p:cNvSpPr txBox="1"/>
          <p:nvPr/>
        </p:nvSpPr>
        <p:spPr>
          <a:xfrm>
            <a:off x="10872286" y="6163609"/>
            <a:ext cx="9845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alt </a:t>
            </a:r>
            <a:r>
              <a:rPr lang="ko-KR" altLang="en-US" dirty="0"/>
              <a:t>출력</a:t>
            </a:r>
          </a:p>
        </p:txBody>
      </p:sp>
    </p:spTree>
    <p:extLst>
      <p:ext uri="{BB962C8B-B14F-4D97-AF65-F5344CB8AC3E}">
        <p14:creationId xmlns:p14="http://schemas.microsoft.com/office/powerpoint/2010/main" val="128123407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B118405-0126-DDF7-57BF-450ED4E532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각종 주요 태그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C80AA27-02AC-CF56-93F3-005811B249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1125656" cy="4351338"/>
          </a:xfrm>
        </p:spPr>
        <p:txBody>
          <a:bodyPr>
            <a:normAutofit/>
          </a:bodyPr>
          <a:lstStyle/>
          <a:p>
            <a:r>
              <a:rPr lang="en-US" altLang="ko-KR" dirty="0"/>
              <a:t>&lt;a&gt;</a:t>
            </a:r>
          </a:p>
          <a:p>
            <a:pPr lvl="1"/>
            <a:r>
              <a:rPr lang="ko-KR" altLang="en-US" dirty="0"/>
              <a:t>앵커</a:t>
            </a:r>
            <a:r>
              <a:rPr lang="en-US" altLang="ko-KR" dirty="0"/>
              <a:t>(anchor)</a:t>
            </a:r>
            <a:r>
              <a:rPr lang="ko-KR" altLang="en-US" dirty="0"/>
              <a:t>라고 발음함 </a:t>
            </a:r>
            <a:r>
              <a:rPr lang="en-US" altLang="ko-KR" dirty="0"/>
              <a:t>(link </a:t>
            </a:r>
            <a:r>
              <a:rPr lang="ko-KR" altLang="en-US" dirty="0"/>
              <a:t>아님</a:t>
            </a:r>
            <a:r>
              <a:rPr lang="en-US" altLang="ko-KR" dirty="0"/>
              <a:t>)</a:t>
            </a:r>
          </a:p>
          <a:p>
            <a:pPr lvl="1"/>
            <a:r>
              <a:rPr lang="ko-KR" altLang="en-US" dirty="0"/>
              <a:t>하이퍼링크에 사용</a:t>
            </a:r>
            <a:endParaRPr lang="en-US" altLang="ko-KR" dirty="0"/>
          </a:p>
          <a:p>
            <a:pPr marL="457200" lvl="1" indent="0">
              <a:buNone/>
            </a:pPr>
            <a:r>
              <a:rPr lang="ko-KR" altLang="en-US" dirty="0"/>
              <a:t>속성</a:t>
            </a:r>
            <a:r>
              <a:rPr lang="en-US" altLang="ko-KR" dirty="0"/>
              <a:t>:</a:t>
            </a:r>
          </a:p>
          <a:p>
            <a:pPr lvl="1"/>
            <a:r>
              <a:rPr lang="en-US" altLang="ko-KR" dirty="0" err="1"/>
              <a:t>href</a:t>
            </a:r>
            <a:r>
              <a:rPr lang="en-US" altLang="ko-KR" dirty="0"/>
              <a:t> = </a:t>
            </a:r>
            <a:r>
              <a:rPr lang="ko-KR" altLang="en-US" dirty="0"/>
              <a:t>연결할 </a:t>
            </a:r>
            <a:r>
              <a:rPr lang="en-US" altLang="ko-KR" dirty="0"/>
              <a:t>URL </a:t>
            </a:r>
            <a:r>
              <a:rPr lang="ko-KR" altLang="en-US" dirty="0"/>
              <a:t>예</a:t>
            </a:r>
            <a:r>
              <a:rPr lang="en-US" altLang="ko-KR" dirty="0"/>
              <a:t>) &lt;a </a:t>
            </a:r>
            <a:r>
              <a:rPr lang="en-US" altLang="ko-KR" dirty="0" err="1"/>
              <a:t>herf</a:t>
            </a:r>
            <a:r>
              <a:rPr lang="en-US" altLang="ko-KR" dirty="0"/>
              <a:t>=www.naver.com&gt;</a:t>
            </a:r>
            <a:r>
              <a:rPr lang="ko-KR" altLang="en-US" dirty="0"/>
              <a:t>네이버</a:t>
            </a:r>
            <a:r>
              <a:rPr lang="en-US" altLang="ko-KR" dirty="0"/>
              <a:t>&lt;/a&gt;</a:t>
            </a:r>
          </a:p>
          <a:p>
            <a:pPr lvl="1"/>
            <a:r>
              <a:rPr lang="en-US" altLang="ko-KR" dirty="0"/>
              <a:t>target – </a:t>
            </a:r>
            <a:r>
              <a:rPr lang="ko-KR" altLang="en-US" dirty="0"/>
              <a:t>연결할 사이트의 출력 조절 가능</a:t>
            </a:r>
          </a:p>
          <a:p>
            <a:pPr marL="457200" lvl="1" indent="0">
              <a:buNone/>
            </a:pPr>
            <a:r>
              <a:rPr lang="en-US" altLang="ko-KR" dirty="0">
                <a:sym typeface="Wingdings" panose="05000000000000000000" pitchFamily="2" charset="2"/>
              </a:rPr>
              <a:t>   </a:t>
            </a:r>
            <a:r>
              <a:rPr lang="en-US" altLang="ko-KR" dirty="0"/>
              <a:t>target="_blank" </a:t>
            </a:r>
            <a:r>
              <a:rPr lang="en-US" altLang="ko-KR" dirty="0">
                <a:solidFill>
                  <a:srgbClr val="0070C0"/>
                </a:solidFill>
              </a:rPr>
              <a:t>&lt;!--</a:t>
            </a:r>
            <a:r>
              <a:rPr lang="ko-KR" altLang="en-US" dirty="0">
                <a:solidFill>
                  <a:srgbClr val="0070C0"/>
                </a:solidFill>
              </a:rPr>
              <a:t>새창에서 열기</a:t>
            </a:r>
            <a:r>
              <a:rPr lang="en-US" altLang="ko-KR" dirty="0">
                <a:solidFill>
                  <a:srgbClr val="0070C0"/>
                </a:solidFill>
              </a:rPr>
              <a:t>--&gt;</a:t>
            </a:r>
            <a:endParaRPr lang="ko-KR" altLang="en-US" dirty="0">
              <a:solidFill>
                <a:srgbClr val="0070C0"/>
              </a:solidFill>
            </a:endParaRPr>
          </a:p>
          <a:p>
            <a:pPr marL="457200" lvl="1" indent="0">
              <a:buNone/>
            </a:pPr>
            <a:r>
              <a:rPr lang="en-US" altLang="ko-KR" dirty="0"/>
              <a:t>  </a:t>
            </a:r>
            <a:r>
              <a:rPr lang="en-US" altLang="ko-KR" dirty="0">
                <a:sym typeface="Wingdings" panose="05000000000000000000" pitchFamily="2" charset="2"/>
              </a:rPr>
              <a:t> </a:t>
            </a:r>
            <a:r>
              <a:rPr lang="en-US" altLang="ko-KR" dirty="0"/>
              <a:t>(default</a:t>
            </a:r>
            <a:r>
              <a:rPr lang="ko-KR" altLang="en-US" dirty="0"/>
              <a:t>는 </a:t>
            </a:r>
            <a:r>
              <a:rPr lang="en-US" altLang="ko-KR" dirty="0"/>
              <a:t>target="_self") </a:t>
            </a:r>
            <a:r>
              <a:rPr lang="en-US" altLang="ko-KR" dirty="0">
                <a:solidFill>
                  <a:srgbClr val="0070C0"/>
                </a:solidFill>
              </a:rPr>
              <a:t>&lt;!--</a:t>
            </a:r>
            <a:r>
              <a:rPr lang="ko-KR" altLang="en-US" dirty="0">
                <a:solidFill>
                  <a:srgbClr val="0070C0"/>
                </a:solidFill>
              </a:rPr>
              <a:t>현재창에서 열기</a:t>
            </a:r>
            <a:r>
              <a:rPr lang="en-US" altLang="ko-KR" dirty="0">
                <a:solidFill>
                  <a:srgbClr val="0070C0"/>
                </a:solidFill>
              </a:rPr>
              <a:t>--&gt;</a:t>
            </a:r>
          </a:p>
          <a:p>
            <a:r>
              <a:rPr lang="en-US" altLang="ko-KR" dirty="0"/>
              <a:t>CSS selector</a:t>
            </a:r>
            <a:r>
              <a:rPr lang="ko-KR" altLang="en-US" dirty="0"/>
              <a:t>처럼 </a:t>
            </a:r>
            <a:r>
              <a:rPr lang="en-US" altLang="ko-KR" dirty="0"/>
              <a:t>id</a:t>
            </a:r>
            <a:r>
              <a:rPr lang="ko-KR" altLang="en-US" dirty="0"/>
              <a:t>를 통해 이동 가능</a:t>
            </a:r>
            <a:endParaRPr lang="en-US" altLang="ko-KR" dirty="0"/>
          </a:p>
          <a:p>
            <a:pPr lvl="1"/>
            <a:r>
              <a:rPr lang="ko-KR" altLang="en-US" dirty="0"/>
              <a:t>예시</a:t>
            </a:r>
            <a:r>
              <a:rPr lang="en-US" altLang="ko-KR" dirty="0"/>
              <a:t>)</a:t>
            </a:r>
            <a:r>
              <a:rPr lang="ko-KR" altLang="en-US" dirty="0"/>
              <a:t> </a:t>
            </a:r>
            <a:r>
              <a:rPr lang="en-US" altLang="ko-KR" dirty="0"/>
              <a:t>&lt;a </a:t>
            </a:r>
            <a:r>
              <a:rPr lang="en-US" altLang="ko-KR" dirty="0" err="1"/>
              <a:t>herf</a:t>
            </a:r>
            <a:r>
              <a:rPr lang="en-US" altLang="ko-KR" dirty="0"/>
              <a:t>="#</a:t>
            </a:r>
            <a:r>
              <a:rPr lang="ko-KR" altLang="en-US" dirty="0"/>
              <a:t>여기</a:t>
            </a:r>
            <a:r>
              <a:rPr lang="en-US" altLang="ko-KR" dirty="0"/>
              <a:t>"&gt; </a:t>
            </a:r>
            <a:r>
              <a:rPr lang="en-US" altLang="ko-KR" dirty="0">
                <a:solidFill>
                  <a:srgbClr val="0070C0"/>
                </a:solidFill>
              </a:rPr>
              <a:t>&lt;!-- &lt;p id=“</a:t>
            </a:r>
            <a:r>
              <a:rPr lang="ko-KR" altLang="en-US" dirty="0">
                <a:solidFill>
                  <a:srgbClr val="0070C0"/>
                </a:solidFill>
              </a:rPr>
              <a:t>여기</a:t>
            </a:r>
            <a:r>
              <a:rPr lang="en-US" altLang="ko-KR" dirty="0">
                <a:solidFill>
                  <a:srgbClr val="0070C0"/>
                </a:solidFill>
              </a:rPr>
              <a:t>”&gt; </a:t>
            </a:r>
            <a:r>
              <a:rPr lang="ko-KR" altLang="en-US" dirty="0">
                <a:solidFill>
                  <a:srgbClr val="0070C0"/>
                </a:solidFill>
              </a:rPr>
              <a:t>로 이동하는</a:t>
            </a:r>
            <a:r>
              <a:rPr lang="en-US" altLang="ko-KR" dirty="0">
                <a:solidFill>
                  <a:srgbClr val="0070C0"/>
                </a:solidFill>
              </a:rPr>
              <a:t> </a:t>
            </a:r>
            <a:r>
              <a:rPr lang="ko-KR" altLang="en-US" dirty="0">
                <a:solidFill>
                  <a:srgbClr val="0070C0"/>
                </a:solidFill>
              </a:rPr>
              <a:t>책갈피 기능</a:t>
            </a:r>
            <a:r>
              <a:rPr lang="en-US" altLang="ko-KR" dirty="0">
                <a:solidFill>
                  <a:srgbClr val="0070C0"/>
                </a:solidFill>
              </a:rPr>
              <a:t> --&gt;</a:t>
            </a:r>
            <a:endParaRPr lang="ko-KR" altLang="en-US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4648539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E874184-1234-D7E6-DC9B-9529E9D8BD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CSS / JavaScript selector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D470729-742F-AD18-CD12-49882FFA87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4875" y="1803723"/>
            <a:ext cx="11662250" cy="4351338"/>
          </a:xfrm>
        </p:spPr>
        <p:txBody>
          <a:bodyPr>
            <a:normAutofit fontScale="92500" lnSpcReduction="20000"/>
          </a:bodyPr>
          <a:lstStyle/>
          <a:p>
            <a:r>
              <a:rPr lang="en-US" altLang="ko-KR" dirty="0"/>
              <a:t>CSS / JavaScript selector</a:t>
            </a:r>
          </a:p>
          <a:p>
            <a:endParaRPr lang="en-US" altLang="ko-KR" dirty="0"/>
          </a:p>
          <a:p>
            <a:r>
              <a:rPr lang="en-US" altLang="ko-KR" dirty="0" err="1"/>
              <a:t>ol</a:t>
            </a:r>
            <a:r>
              <a:rPr lang="en-US" altLang="ko-KR" dirty="0"/>
              <a:t> : </a:t>
            </a:r>
            <a:r>
              <a:rPr lang="ko-KR" altLang="en-US" dirty="0"/>
              <a:t>태그 이름</a:t>
            </a:r>
          </a:p>
          <a:p>
            <a:r>
              <a:rPr lang="en-US" altLang="ko-KR" dirty="0"/>
              <a:t>.some : </a:t>
            </a:r>
            <a:r>
              <a:rPr lang="ko-KR" altLang="en-US" dirty="0"/>
              <a:t>태그의 속성 중에서 </a:t>
            </a:r>
            <a:r>
              <a:rPr lang="en-US" altLang="ko-KR" dirty="0"/>
              <a:t>class </a:t>
            </a:r>
            <a:r>
              <a:rPr lang="ko-KR" altLang="en-US" dirty="0"/>
              <a:t>라는 속성을 찾아 값이 </a:t>
            </a:r>
            <a:r>
              <a:rPr lang="en-US" altLang="ko-KR" dirty="0"/>
              <a:t>some</a:t>
            </a:r>
            <a:r>
              <a:rPr lang="ko-KR" altLang="en-US" dirty="0"/>
              <a:t>인 것을 찾음</a:t>
            </a:r>
          </a:p>
          <a:p>
            <a:r>
              <a:rPr lang="en-US" altLang="ko-KR" dirty="0"/>
              <a:t>#other: </a:t>
            </a:r>
            <a:r>
              <a:rPr lang="ko-KR" altLang="en-US" dirty="0"/>
              <a:t>속성 중에서 </a:t>
            </a:r>
            <a:r>
              <a:rPr lang="en-US" altLang="ko-KR" dirty="0"/>
              <a:t>id</a:t>
            </a:r>
            <a:r>
              <a:rPr lang="ko-KR" altLang="en-US" dirty="0"/>
              <a:t>라는 것을 찾아 값이 </a:t>
            </a:r>
            <a:r>
              <a:rPr lang="en-US" altLang="ko-KR" dirty="0"/>
              <a:t>other</a:t>
            </a:r>
            <a:r>
              <a:rPr lang="ko-KR" altLang="en-US" dirty="0"/>
              <a:t>인 것을 찾음</a:t>
            </a:r>
          </a:p>
          <a:p>
            <a:r>
              <a:rPr lang="ko-KR" altLang="en-US" dirty="0"/>
              <a:t>예시 </a:t>
            </a:r>
            <a:r>
              <a:rPr lang="en-US" altLang="ko-KR" dirty="0"/>
              <a:t>: </a:t>
            </a:r>
            <a:r>
              <a:rPr lang="en-US" altLang="ko-KR" dirty="0" err="1"/>
              <a:t>ol.some</a:t>
            </a:r>
            <a:r>
              <a:rPr lang="en-US" altLang="ko-KR" dirty="0"/>
              <a:t> </a:t>
            </a:r>
            <a:r>
              <a:rPr lang="en-US" altLang="ko-KR" dirty="0" err="1"/>
              <a:t>ol#other</a:t>
            </a:r>
            <a:endParaRPr lang="ko-KR" altLang="en-US" dirty="0"/>
          </a:p>
          <a:p>
            <a:endParaRPr lang="ko-KR" altLang="en-US" dirty="0"/>
          </a:p>
          <a:p>
            <a:r>
              <a:rPr lang="ko-KR" altLang="en-US" dirty="0" err="1"/>
              <a:t>클래스랑</a:t>
            </a:r>
            <a:r>
              <a:rPr lang="ko-KR" altLang="en-US" dirty="0"/>
              <a:t> </a:t>
            </a:r>
            <a:r>
              <a:rPr lang="en-US" altLang="ko-KR" dirty="0"/>
              <a:t>id</a:t>
            </a:r>
            <a:r>
              <a:rPr lang="ko-KR" altLang="en-US" dirty="0"/>
              <a:t>의 차이</a:t>
            </a:r>
            <a:endParaRPr lang="en-US" altLang="ko-KR" dirty="0"/>
          </a:p>
          <a:p>
            <a:r>
              <a:rPr lang="en-US" altLang="ko-KR" dirty="0"/>
              <a:t>id</a:t>
            </a:r>
            <a:r>
              <a:rPr lang="ko-KR" altLang="en-US" dirty="0"/>
              <a:t>는 식별자 </a:t>
            </a:r>
            <a:r>
              <a:rPr lang="en-US" altLang="ko-KR" dirty="0">
                <a:sym typeface="Wingdings" panose="05000000000000000000" pitchFamily="2" charset="2"/>
              </a:rPr>
              <a:t></a:t>
            </a:r>
            <a:r>
              <a:rPr lang="en-US" altLang="ko-KR" dirty="0"/>
              <a:t> </a:t>
            </a:r>
            <a:r>
              <a:rPr lang="ko-KR" altLang="en-US" dirty="0"/>
              <a:t>같은 값이 동시에 나올 수 없다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class</a:t>
            </a:r>
            <a:r>
              <a:rPr lang="ko-KR" altLang="en-US" dirty="0"/>
              <a:t>는 그룹 </a:t>
            </a:r>
            <a:r>
              <a:rPr lang="en-US" altLang="ko-KR" dirty="0">
                <a:sym typeface="Wingdings" panose="05000000000000000000" pitchFamily="2" charset="2"/>
              </a:rPr>
              <a:t></a:t>
            </a:r>
            <a:r>
              <a:rPr lang="en-US" altLang="ko-KR" dirty="0"/>
              <a:t> </a:t>
            </a:r>
            <a:r>
              <a:rPr lang="ko-KR" altLang="en-US" dirty="0"/>
              <a:t>같은 값이 동시에 여럿 나올 수 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89081553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B892E31-D5A3-49FC-A538-DF23319C27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CSS / JavaScript selector</a:t>
            </a:r>
            <a:endParaRPr lang="ko-KR" altLang="en-US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7D90DD9E-5A5E-4391-A8CF-E4C7E7AE6A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1948" y="2370480"/>
            <a:ext cx="9410472" cy="933808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B16564FD-5678-4B83-8186-BB5D29C858F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22056" y="3457139"/>
            <a:ext cx="2431998" cy="3175109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DE1DA52E-99C8-4324-A133-606AB193D16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33024" y="3429000"/>
            <a:ext cx="2524745" cy="3486552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8DA25BE4-DD6E-42BF-8AC2-036A2EE1C918}"/>
              </a:ext>
            </a:extLst>
          </p:cNvPr>
          <p:cNvSpPr txBox="1"/>
          <p:nvPr/>
        </p:nvSpPr>
        <p:spPr>
          <a:xfrm>
            <a:off x="1162182" y="1509743"/>
            <a:ext cx="622678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dirty="0"/>
              <a:t>id</a:t>
            </a:r>
            <a:r>
              <a:rPr lang="ko-KR" altLang="en-US" sz="2000" dirty="0"/>
              <a:t>는</a:t>
            </a:r>
            <a:r>
              <a:rPr lang="en-US" altLang="ko-KR" sz="2000" dirty="0"/>
              <a:t> </a:t>
            </a:r>
            <a:r>
              <a:rPr lang="ko-KR" altLang="en-US" sz="2000" dirty="0"/>
              <a:t>겹치지 않는 식별자를</a:t>
            </a:r>
            <a:r>
              <a:rPr lang="en-US" altLang="ko-KR" sz="2000" dirty="0"/>
              <a:t>,</a:t>
            </a:r>
          </a:p>
          <a:p>
            <a:r>
              <a:rPr lang="en-US" altLang="ko-KR" sz="2000" dirty="0"/>
              <a:t>class</a:t>
            </a:r>
            <a:r>
              <a:rPr lang="ko-KR" altLang="en-US" sz="2000" dirty="0"/>
              <a:t>는 공통적인 특징을 나타내는데 사용한다</a:t>
            </a:r>
            <a:r>
              <a:rPr lang="en-US" altLang="ko-KR" sz="2000" dirty="0"/>
              <a:t>.</a:t>
            </a:r>
            <a:endParaRPr lang="ko-KR" altLang="en-US" sz="20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0468CA8-B748-4778-BBF3-EB6E46CEFD27}"/>
              </a:ext>
            </a:extLst>
          </p:cNvPr>
          <p:cNvSpPr txBox="1"/>
          <p:nvPr/>
        </p:nvSpPr>
        <p:spPr>
          <a:xfrm>
            <a:off x="6756646" y="4120620"/>
            <a:ext cx="5355047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 err="1"/>
              <a:t>img.penguin</a:t>
            </a:r>
            <a:r>
              <a:rPr lang="en-US" altLang="ko-KR" sz="1600" dirty="0"/>
              <a:t> </a:t>
            </a:r>
          </a:p>
          <a:p>
            <a:r>
              <a:rPr lang="en-US" altLang="ko-KR" sz="1600" dirty="0">
                <a:sym typeface="Wingdings" panose="05000000000000000000" pitchFamily="2" charset="2"/>
              </a:rPr>
              <a:t> </a:t>
            </a:r>
            <a:r>
              <a:rPr lang="en-US" altLang="ko-KR" sz="1600" dirty="0" err="1">
                <a:sym typeface="Wingdings" panose="05000000000000000000" pitchFamily="2" charset="2"/>
              </a:rPr>
              <a:t>img</a:t>
            </a:r>
            <a:r>
              <a:rPr lang="ko-KR" altLang="en-US" sz="1600" dirty="0">
                <a:sym typeface="Wingdings" panose="05000000000000000000" pitchFamily="2" charset="2"/>
              </a:rPr>
              <a:t> 태그 중 </a:t>
            </a:r>
            <a:r>
              <a:rPr lang="en-US" altLang="ko-KR" sz="1600" dirty="0">
                <a:sym typeface="Wingdings" panose="05000000000000000000" pitchFamily="2" charset="2"/>
              </a:rPr>
              <a:t>class</a:t>
            </a:r>
            <a:r>
              <a:rPr lang="ko-KR" altLang="en-US" sz="1600" dirty="0">
                <a:sym typeface="Wingdings" panose="05000000000000000000" pitchFamily="2" charset="2"/>
              </a:rPr>
              <a:t>가 </a:t>
            </a:r>
            <a:r>
              <a:rPr lang="en-US" altLang="ko-KR" sz="1600" dirty="0">
                <a:sym typeface="Wingdings" panose="05000000000000000000" pitchFamily="2" charset="2"/>
              </a:rPr>
              <a:t>penguin</a:t>
            </a:r>
            <a:r>
              <a:rPr lang="ko-KR" altLang="en-US" sz="1600" dirty="0">
                <a:sym typeface="Wingdings" panose="05000000000000000000" pitchFamily="2" charset="2"/>
              </a:rPr>
              <a:t>인 태그를 모두 가리킴</a:t>
            </a:r>
            <a:endParaRPr lang="en-US" altLang="ko-KR" sz="1600" dirty="0">
              <a:sym typeface="Wingdings" panose="05000000000000000000" pitchFamily="2" charset="2"/>
            </a:endParaRPr>
          </a:p>
          <a:p>
            <a:endParaRPr lang="en-US" altLang="ko-KR" sz="1600" dirty="0">
              <a:sym typeface="Wingdings" panose="05000000000000000000" pitchFamily="2" charset="2"/>
            </a:endParaRPr>
          </a:p>
          <a:p>
            <a:r>
              <a:rPr lang="en-US" altLang="ko-KR" sz="1600" dirty="0" err="1">
                <a:sym typeface="Wingdings" panose="05000000000000000000" pitchFamily="2" charset="2"/>
              </a:rPr>
              <a:t>img</a:t>
            </a:r>
            <a:r>
              <a:rPr lang="en-US" altLang="ko-KR" sz="1600" dirty="0">
                <a:sym typeface="Wingdings" panose="05000000000000000000" pitchFamily="2" charset="2"/>
              </a:rPr>
              <a:t>#</a:t>
            </a:r>
            <a:r>
              <a:rPr lang="ko-KR" altLang="en-US" sz="1600" dirty="0" err="1">
                <a:sym typeface="Wingdings" panose="05000000000000000000" pitchFamily="2" charset="2"/>
              </a:rPr>
              <a:t>코왈스키</a:t>
            </a:r>
            <a:r>
              <a:rPr lang="ko-KR" altLang="en-US" sz="1600" dirty="0">
                <a:sym typeface="Wingdings" panose="05000000000000000000" pitchFamily="2" charset="2"/>
              </a:rPr>
              <a:t> </a:t>
            </a:r>
            <a:endParaRPr lang="en-US" altLang="ko-KR" sz="1600" dirty="0">
              <a:sym typeface="Wingdings" panose="05000000000000000000" pitchFamily="2" charset="2"/>
            </a:endParaRPr>
          </a:p>
          <a:p>
            <a:r>
              <a:rPr lang="en-US" altLang="ko-KR" sz="1600" dirty="0">
                <a:sym typeface="Wingdings" panose="05000000000000000000" pitchFamily="2" charset="2"/>
              </a:rPr>
              <a:t> </a:t>
            </a:r>
            <a:r>
              <a:rPr lang="en-US" altLang="ko-KR" sz="1600" dirty="0" err="1">
                <a:sym typeface="Wingdings" panose="05000000000000000000" pitchFamily="2" charset="2"/>
              </a:rPr>
              <a:t>img</a:t>
            </a:r>
            <a:r>
              <a:rPr lang="ko-KR" altLang="en-US" sz="1600" dirty="0">
                <a:sym typeface="Wingdings" panose="05000000000000000000" pitchFamily="2" charset="2"/>
              </a:rPr>
              <a:t> 태그 중 </a:t>
            </a:r>
            <a:r>
              <a:rPr lang="en-US" altLang="ko-KR" sz="1600" dirty="0">
                <a:sym typeface="Wingdings" panose="05000000000000000000" pitchFamily="2" charset="2"/>
              </a:rPr>
              <a:t>id</a:t>
            </a:r>
            <a:r>
              <a:rPr lang="ko-KR" altLang="en-US" sz="1600" dirty="0">
                <a:sym typeface="Wingdings" panose="05000000000000000000" pitchFamily="2" charset="2"/>
              </a:rPr>
              <a:t>가 </a:t>
            </a:r>
            <a:r>
              <a:rPr lang="ko-KR" altLang="en-US" sz="1600" dirty="0" err="1">
                <a:sym typeface="Wingdings" panose="05000000000000000000" pitchFamily="2" charset="2"/>
              </a:rPr>
              <a:t>코왈스키인</a:t>
            </a:r>
            <a:r>
              <a:rPr lang="ko-KR" altLang="en-US" sz="1600" dirty="0">
                <a:sym typeface="Wingdings" panose="05000000000000000000" pitchFamily="2" charset="2"/>
              </a:rPr>
              <a:t> 태그를 가리킴</a:t>
            </a:r>
            <a:endParaRPr lang="en-US" altLang="ko-KR" sz="1600" dirty="0">
              <a:sym typeface="Wingdings" panose="05000000000000000000" pitchFamily="2" charset="2"/>
            </a:endParaRPr>
          </a:p>
          <a:p>
            <a:endParaRPr lang="en-US" altLang="ko-KR" sz="1600" dirty="0"/>
          </a:p>
          <a:p>
            <a:r>
              <a:rPr lang="en-US" altLang="ko-KR" sz="1600" dirty="0" err="1">
                <a:sym typeface="Wingdings" panose="05000000000000000000" pitchFamily="2" charset="2"/>
              </a:rPr>
              <a:t>img</a:t>
            </a:r>
            <a:r>
              <a:rPr lang="en-US" altLang="ko-KR" sz="1600" dirty="0">
                <a:sym typeface="Wingdings" panose="05000000000000000000" pitchFamily="2" charset="2"/>
              </a:rPr>
              <a:t>#</a:t>
            </a:r>
            <a:r>
              <a:rPr lang="ko-KR" altLang="en-US" sz="1600" dirty="0">
                <a:sym typeface="Wingdings" panose="05000000000000000000" pitchFamily="2" charset="2"/>
              </a:rPr>
              <a:t>뽀로로</a:t>
            </a:r>
            <a:endParaRPr lang="en-US" altLang="ko-KR" sz="1600" dirty="0">
              <a:sym typeface="Wingdings" panose="05000000000000000000" pitchFamily="2" charset="2"/>
            </a:endParaRPr>
          </a:p>
          <a:p>
            <a:r>
              <a:rPr lang="en-US" altLang="ko-KR" sz="1600" dirty="0">
                <a:sym typeface="Wingdings" panose="05000000000000000000" pitchFamily="2" charset="2"/>
              </a:rPr>
              <a:t> </a:t>
            </a:r>
            <a:r>
              <a:rPr lang="en-US" altLang="ko-KR" sz="1600" dirty="0" err="1">
                <a:sym typeface="Wingdings" panose="05000000000000000000" pitchFamily="2" charset="2"/>
              </a:rPr>
              <a:t>img</a:t>
            </a:r>
            <a:r>
              <a:rPr lang="ko-KR" altLang="en-US" sz="1600" dirty="0">
                <a:sym typeface="Wingdings" panose="05000000000000000000" pitchFamily="2" charset="2"/>
              </a:rPr>
              <a:t> 태그 중 </a:t>
            </a:r>
            <a:r>
              <a:rPr lang="en-US" altLang="ko-KR" sz="1600" dirty="0">
                <a:sym typeface="Wingdings" panose="05000000000000000000" pitchFamily="2" charset="2"/>
              </a:rPr>
              <a:t>id</a:t>
            </a:r>
            <a:r>
              <a:rPr lang="ko-KR" altLang="en-US" sz="1600" dirty="0">
                <a:sym typeface="Wingdings" panose="05000000000000000000" pitchFamily="2" charset="2"/>
              </a:rPr>
              <a:t>가 뽀로로인 태그를 가리킴</a:t>
            </a:r>
            <a:endParaRPr lang="en-US" altLang="ko-KR" sz="1600" dirty="0">
              <a:sym typeface="Wingdings" panose="05000000000000000000" pitchFamily="2" charset="2"/>
            </a:endParaRPr>
          </a:p>
          <a:p>
            <a:endParaRPr lang="ko-KR" altLang="en-US" sz="1600" dirty="0"/>
          </a:p>
        </p:txBody>
      </p:sp>
    </p:spTree>
    <p:extLst>
      <p:ext uri="{BB962C8B-B14F-4D97-AF65-F5344CB8AC3E}">
        <p14:creationId xmlns:p14="http://schemas.microsoft.com/office/powerpoint/2010/main" val="203655758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10F4FC9-D6EE-7581-0A4D-BA4D1D342B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entity </a:t>
            </a:r>
            <a:r>
              <a:rPr lang="ko-KR" altLang="en-US" dirty="0"/>
              <a:t>사용법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29383B5-94BD-46B5-DBAC-C7B0FF9C66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0999721" cy="4351338"/>
          </a:xfrm>
        </p:spPr>
        <p:txBody>
          <a:bodyPr>
            <a:normAutofit lnSpcReduction="10000"/>
          </a:bodyPr>
          <a:lstStyle/>
          <a:p>
            <a:r>
              <a:rPr lang="en-US" altLang="ko-KR" dirty="0"/>
              <a:t>entity : </a:t>
            </a:r>
            <a:r>
              <a:rPr lang="ko-KR" altLang="en-US" dirty="0"/>
              <a:t>문자 나타내기 </a:t>
            </a:r>
            <a:r>
              <a:rPr lang="en-US" altLang="ko-KR" dirty="0"/>
              <a:t>//&amp;</a:t>
            </a:r>
            <a:r>
              <a:rPr lang="ko-KR" altLang="en-US" dirty="0"/>
              <a:t>로 시작하고 </a:t>
            </a:r>
            <a:r>
              <a:rPr lang="en-US" altLang="ko-KR" dirty="0"/>
              <a:t>;</a:t>
            </a:r>
            <a:r>
              <a:rPr lang="ko-KR" altLang="en-US" dirty="0"/>
              <a:t>로 끝남</a:t>
            </a:r>
            <a:endParaRPr lang="en-US" altLang="ko-KR" dirty="0"/>
          </a:p>
          <a:p>
            <a:endParaRPr lang="ko-KR" altLang="en-US" dirty="0"/>
          </a:p>
          <a:p>
            <a:r>
              <a:rPr lang="en-US" altLang="ko-KR" dirty="0"/>
              <a:t>&amp;</a:t>
            </a:r>
            <a:r>
              <a:rPr lang="en-US" altLang="ko-KR" dirty="0" err="1"/>
              <a:t>lt</a:t>
            </a:r>
            <a:r>
              <a:rPr lang="en-US" altLang="ko-KR" dirty="0"/>
              <a:t>; : &lt; (less than)</a:t>
            </a:r>
          </a:p>
          <a:p>
            <a:r>
              <a:rPr lang="en-US" altLang="ko-KR" dirty="0"/>
              <a:t>&amp;</a:t>
            </a:r>
            <a:r>
              <a:rPr lang="en-US" altLang="ko-KR" dirty="0" err="1"/>
              <a:t>gt</a:t>
            </a:r>
            <a:r>
              <a:rPr lang="en-US" altLang="ko-KR" dirty="0"/>
              <a:t>; : &gt; (greater than)</a:t>
            </a:r>
          </a:p>
          <a:p>
            <a:r>
              <a:rPr lang="en-US" altLang="ko-KR" dirty="0"/>
              <a:t>&amp;</a:t>
            </a:r>
            <a:r>
              <a:rPr lang="en-US" altLang="ko-KR" dirty="0" err="1"/>
              <a:t>nbsp</a:t>
            </a:r>
            <a:r>
              <a:rPr lang="en-US" altLang="ko-KR" dirty="0"/>
              <a:t>; : </a:t>
            </a:r>
            <a:r>
              <a:rPr lang="ko-KR" altLang="en-US" dirty="0"/>
              <a:t>그냥 공백 </a:t>
            </a:r>
            <a:r>
              <a:rPr lang="en-US" altLang="ko-KR" dirty="0"/>
              <a:t>(</a:t>
            </a:r>
            <a:r>
              <a:rPr lang="ko-KR" altLang="en-US" dirty="0"/>
              <a:t>하나 이상의 공백을 나타내야 </a:t>
            </a:r>
            <a:r>
              <a:rPr lang="ko-KR" altLang="en-US" dirty="0" err="1"/>
              <a:t>할때</a:t>
            </a:r>
            <a:endParaRPr lang="en-US" altLang="ko-KR" dirty="0"/>
          </a:p>
          <a:p>
            <a:r>
              <a:rPr lang="en-US" altLang="ko-KR" dirty="0"/>
              <a:t>&amp;amp; : </a:t>
            </a:r>
            <a:r>
              <a:rPr lang="ko-KR" altLang="en-US" dirty="0" err="1"/>
              <a:t>앰퍼센트</a:t>
            </a:r>
            <a:r>
              <a:rPr lang="ko-KR" altLang="en-US" dirty="0"/>
              <a:t> </a:t>
            </a:r>
            <a:r>
              <a:rPr lang="en-US" altLang="ko-KR" dirty="0"/>
              <a:t>&lt;</a:t>
            </a:r>
            <a:r>
              <a:rPr lang="en-US" altLang="ko-KR" dirty="0" err="1"/>
              <a:t>br</a:t>
            </a:r>
            <a:r>
              <a:rPr lang="en-US" altLang="ko-KR" dirty="0"/>
              <a:t>&gt;</a:t>
            </a:r>
          </a:p>
          <a:p>
            <a:r>
              <a:rPr lang="en-US" altLang="ko-KR" dirty="0"/>
              <a:t>&amp;</a:t>
            </a:r>
            <a:r>
              <a:rPr lang="en-US" altLang="ko-KR" dirty="0" err="1"/>
              <a:t>quot</a:t>
            </a:r>
            <a:r>
              <a:rPr lang="en-US" altLang="ko-KR" dirty="0"/>
              <a:t>; : </a:t>
            </a:r>
            <a:r>
              <a:rPr lang="ko-KR" altLang="en-US" dirty="0"/>
              <a:t>큰따옴표 </a:t>
            </a:r>
            <a:r>
              <a:rPr lang="en-US" altLang="ko-KR" dirty="0"/>
              <a:t>&lt;</a:t>
            </a:r>
            <a:r>
              <a:rPr lang="en-US" altLang="ko-KR" dirty="0" err="1"/>
              <a:t>br</a:t>
            </a:r>
            <a:r>
              <a:rPr lang="en-US" altLang="ko-KR" dirty="0"/>
              <a:t>&gt;</a:t>
            </a:r>
          </a:p>
          <a:p>
            <a:r>
              <a:rPr lang="ko-KR" altLang="en-US" dirty="0"/>
              <a:t>예시</a:t>
            </a:r>
            <a:r>
              <a:rPr lang="en-US" altLang="ko-KR" dirty="0"/>
              <a:t>) “</a:t>
            </a:r>
            <a:r>
              <a:rPr lang="ko-KR" altLang="en-US" dirty="0"/>
              <a:t>아버지 </a:t>
            </a:r>
            <a:r>
              <a:rPr lang="en-US" altLang="ko-KR" dirty="0"/>
              <a:t>&lt;  </a:t>
            </a:r>
            <a:r>
              <a:rPr lang="ko-KR" altLang="en-US" dirty="0"/>
              <a:t>가방  </a:t>
            </a:r>
            <a:r>
              <a:rPr lang="en-US" altLang="ko-KR" dirty="0"/>
              <a:t>&gt;</a:t>
            </a:r>
            <a:r>
              <a:rPr lang="ko-KR" altLang="en-US" dirty="0"/>
              <a:t>에 </a:t>
            </a:r>
            <a:r>
              <a:rPr lang="ko-KR" altLang="en-US" dirty="0" err="1"/>
              <a:t>들어가시다</a:t>
            </a:r>
            <a:r>
              <a:rPr lang="en-US" altLang="ko-KR" dirty="0"/>
              <a:t>.” </a:t>
            </a:r>
          </a:p>
          <a:p>
            <a:pPr marL="457200" lvl="1" indent="0">
              <a:buNone/>
            </a:pPr>
            <a:r>
              <a:rPr lang="en-US" altLang="ko-KR" dirty="0">
                <a:sym typeface="Wingdings" panose="05000000000000000000" pitchFamily="2" charset="2"/>
              </a:rPr>
              <a:t> </a:t>
            </a:r>
            <a:endParaRPr lang="ko-KR" alt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51A335A-72BB-C332-DAD4-E6F16FED6F0B}"/>
              </a:ext>
            </a:extLst>
          </p:cNvPr>
          <p:cNvSpPr txBox="1"/>
          <p:nvPr/>
        </p:nvSpPr>
        <p:spPr>
          <a:xfrm>
            <a:off x="838199" y="5587282"/>
            <a:ext cx="1091677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dirty="0">
                <a:sym typeface="Wingdings" panose="05000000000000000000" pitchFamily="2" charset="2"/>
              </a:rPr>
              <a:t> </a:t>
            </a:r>
            <a:r>
              <a:rPr lang="en-US" altLang="ko-KR" sz="2000" dirty="0"/>
              <a:t>&lt;p&gt;&amp;</a:t>
            </a:r>
            <a:r>
              <a:rPr lang="en-US" altLang="ko-KR" sz="2000" dirty="0" err="1"/>
              <a:t>quot</a:t>
            </a:r>
            <a:r>
              <a:rPr lang="en-US" altLang="ko-KR" sz="2000" dirty="0"/>
              <a:t>;</a:t>
            </a:r>
            <a:r>
              <a:rPr lang="ko-KR" altLang="en-US" sz="2000" dirty="0"/>
              <a:t>아버지 </a:t>
            </a:r>
            <a:r>
              <a:rPr lang="en-US" altLang="ko-KR" sz="2000" dirty="0"/>
              <a:t>&amp;</a:t>
            </a:r>
            <a:r>
              <a:rPr lang="en-US" altLang="ko-KR" sz="2000" dirty="0" err="1"/>
              <a:t>lt&amp;nbsp</a:t>
            </a:r>
            <a:r>
              <a:rPr lang="en-US" altLang="ko-KR" sz="2000" dirty="0"/>
              <a:t>;&amp;</a:t>
            </a:r>
            <a:r>
              <a:rPr lang="en-US" altLang="ko-KR" sz="2000" dirty="0" err="1"/>
              <a:t>nbsp</a:t>
            </a:r>
            <a:r>
              <a:rPr lang="en-US" altLang="ko-KR" sz="2000" dirty="0"/>
              <a:t>;</a:t>
            </a:r>
            <a:r>
              <a:rPr lang="ko-KR" altLang="en-US" sz="2000" dirty="0"/>
              <a:t>가방</a:t>
            </a:r>
            <a:r>
              <a:rPr lang="en-US" altLang="ko-KR" sz="2000" dirty="0"/>
              <a:t>&amp;</a:t>
            </a:r>
            <a:r>
              <a:rPr lang="en-US" altLang="ko-KR" sz="2000" dirty="0" err="1"/>
              <a:t>nbsp</a:t>
            </a:r>
            <a:r>
              <a:rPr lang="en-US" altLang="ko-KR" sz="2000" dirty="0"/>
              <a:t>;&amp;</a:t>
            </a:r>
            <a:r>
              <a:rPr lang="en-US" altLang="ko-KR" sz="2000" dirty="0" err="1"/>
              <a:t>nbsp</a:t>
            </a:r>
            <a:r>
              <a:rPr lang="en-US" altLang="ko-KR" sz="2000" dirty="0"/>
              <a:t>;&amp;</a:t>
            </a:r>
            <a:r>
              <a:rPr lang="en-US" altLang="ko-KR" sz="2000" dirty="0" err="1"/>
              <a:t>gt</a:t>
            </a:r>
            <a:r>
              <a:rPr lang="en-US" altLang="ko-KR" sz="2000" dirty="0"/>
              <a:t>;</a:t>
            </a:r>
            <a:r>
              <a:rPr lang="ko-KR" altLang="en-US" sz="2000" dirty="0"/>
              <a:t>에 </a:t>
            </a:r>
            <a:r>
              <a:rPr lang="ko-KR" altLang="en-US" sz="2000" dirty="0" err="1"/>
              <a:t>들어가시다</a:t>
            </a:r>
            <a:r>
              <a:rPr lang="en-US" altLang="ko-KR" sz="2000" dirty="0"/>
              <a:t>.&amp;</a:t>
            </a:r>
            <a:r>
              <a:rPr lang="en-US" altLang="ko-KR" sz="2000" dirty="0" err="1"/>
              <a:t>quot</a:t>
            </a:r>
            <a:r>
              <a:rPr lang="en-US" altLang="ko-KR" sz="2000" dirty="0"/>
              <a:t>;</a:t>
            </a:r>
            <a:r>
              <a:rPr lang="ko-KR" altLang="en-US" sz="2000" dirty="0"/>
              <a:t> </a:t>
            </a:r>
            <a:r>
              <a:rPr lang="en-US" altLang="ko-KR" sz="2000" dirty="0"/>
              <a:t>&lt;/p&gt;</a:t>
            </a:r>
            <a:endParaRPr lang="ko-KR" altLang="en-US" sz="2000" dirty="0"/>
          </a:p>
        </p:txBody>
      </p:sp>
    </p:spTree>
    <p:extLst>
      <p:ext uri="{BB962C8B-B14F-4D97-AF65-F5344CB8AC3E}">
        <p14:creationId xmlns:p14="http://schemas.microsoft.com/office/powerpoint/2010/main" val="260381106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96</TotalTime>
  <Words>739</Words>
  <Application>Microsoft Office PowerPoint</Application>
  <PresentationFormat>와이드스크린</PresentationFormat>
  <Paragraphs>104</Paragraphs>
  <Slides>11</Slides>
  <Notes>3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11</vt:i4>
      </vt:variant>
    </vt:vector>
  </HeadingPairs>
  <TitlesOfParts>
    <vt:vector size="15" baseType="lpstr">
      <vt:lpstr>맑은 고딕</vt:lpstr>
      <vt:lpstr>Arial</vt:lpstr>
      <vt:lpstr>Wingdings</vt:lpstr>
      <vt:lpstr>Office 테마</vt:lpstr>
      <vt:lpstr>오준곤_2025_12_02</vt:lpstr>
      <vt:lpstr>목차</vt:lpstr>
      <vt:lpstr>HTML 기초</vt:lpstr>
      <vt:lpstr>각종 주요 태그</vt:lpstr>
      <vt:lpstr>각종 주요 태그</vt:lpstr>
      <vt:lpstr>각종 주요 태그</vt:lpstr>
      <vt:lpstr>각종 주요 태그</vt:lpstr>
      <vt:lpstr>각종 주요 태그</vt:lpstr>
      <vt:lpstr>CSS / JavaScript selector</vt:lpstr>
      <vt:lpstr>CSS / JavaScript selector</vt:lpstr>
      <vt:lpstr>entity 사용법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오준곤_2025_12_02</dc:title>
  <dc:creator>GGG</dc:creator>
  <cp:lastModifiedBy>GGG</cp:lastModifiedBy>
  <cp:revision>16</cp:revision>
  <dcterms:created xsi:type="dcterms:W3CDTF">2025-12-01T09:30:39Z</dcterms:created>
  <dcterms:modified xsi:type="dcterms:W3CDTF">2025-12-02T00:01:55Z</dcterms:modified>
</cp:coreProperties>
</file>