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04" autoAdjust="0"/>
    <p:restoredTop sz="94660"/>
  </p:normalViewPr>
  <p:slideViewPr>
    <p:cSldViewPr snapToGrid="0">
      <p:cViewPr>
        <p:scale>
          <a:sx n="80" d="100"/>
          <a:sy n="80" d="100"/>
        </p:scale>
        <p:origin x="222" y="-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AED517-152B-F295-FB4D-ED30DFBC35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6B0C1EB-E3BD-3171-958F-3E3E89F57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7527A2-BD08-E705-33C6-7BB3F8199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B6A24-1CC9-490C-BCC1-E12E598D4132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22ACBD-9B7F-8957-A99D-598D7EA4E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ED38DD-254D-89F8-F952-07EDCDEC0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157C2-6248-4D93-AEAC-5604271B74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1872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33E6B0-8A74-F677-8527-1FF1EC3D4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BE910D-8A9A-1FF2-7EF7-C5592E3588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B0FC78-A6FD-F1C9-797B-4EAE6B8A1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B6A24-1CC9-490C-BCC1-E12E598D4132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BA1D064-B8A8-FDDF-1B04-876F58CF2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D3BC49B-7D04-E30E-466F-A1804E2F4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157C2-6248-4D93-AEAC-5604271B74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9139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493133-6346-3576-9C48-524225C13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034A8A8-BF96-73E6-A631-BC6B14AC7F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9A04092-0526-B709-BEC1-C44F12619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B6A24-1CC9-490C-BCC1-E12E598D4132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510EAA-1F34-0786-2CFB-9383F4436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5405D6-2589-79CB-C1CF-936340AFA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157C2-6248-4D93-AEAC-5604271B74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0370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6B83B8-6959-610E-7354-F0CFBD71B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AA9E3A-2435-9114-768F-334B2B20A7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BC4ED60-3D86-91FE-1DB4-FFED64107A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8A902FB-FA38-3019-2075-598D8FD92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B6A24-1CC9-490C-BCC1-E12E598D4132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7E643B5-A6DB-0CED-F012-17C1C4A89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AE3AAF4-3DBE-E66E-50A7-E38F4398D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157C2-6248-4D93-AEAC-5604271B74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3946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59C7F3-D433-2C5C-8333-1FD9A9DD7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A3DD1E4-286F-43BB-D3BA-975F320865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F1E2A00-78AC-AADE-6EF1-0B5E896F46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FBB80F6-D33E-17C0-1227-166BD06DD3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8872878-3751-A878-DBE5-7DA142ECDD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667D366-A367-3D28-5266-5DDD8889E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B6A24-1CC9-490C-BCC1-E12E598D4132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1639BAF-BFB8-FA35-6D55-281D57A67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31E974C-E0DC-AD8D-D485-48DA865DD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157C2-6248-4D93-AEAC-5604271B74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2049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D20590-66D9-F04B-2CD7-134CFFBB6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6C56EB0-FDEF-B032-4EED-80C2337AE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B6A24-1CC9-490C-BCC1-E12E598D4132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E472F96-22E6-7983-F760-4FAE23CE2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7D6B5BD-DB64-EBE3-1DB3-FB3DA5887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157C2-6248-4D93-AEAC-5604271B74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4836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C6A727C-95E5-BEE3-8BCA-0D453997D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B6A24-1CC9-490C-BCC1-E12E598D4132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308E8BC-DEED-4B6A-7413-DD600CF08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716B80-C9E8-CC07-5215-198636821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157C2-6248-4D93-AEAC-5604271B74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9838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AED224-9AE8-42A3-1124-3758CC6D4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DF5097-5A2C-C015-6E96-1819A7B561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E7D0C34-C66B-6E27-5430-F2085B78E9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BF778E-1D3F-E807-A843-CB7484E35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B6A24-1CC9-490C-BCC1-E12E598D4132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2E322DD-3C45-C41E-4FDE-091484438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5BFF517-1887-B4A8-02A0-1AACCF97E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157C2-6248-4D93-AEAC-5604271B74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1200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2CA3CB-A697-36E7-7513-5B720E74A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24FD97A-9BDA-4719-AFD6-418E30FAEC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8EF2C9C-0FAE-62A3-38B3-D82F53ABDC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37B9D5B-A8A0-B21A-3413-0182E47E1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B6A24-1CC9-490C-BCC1-E12E598D4132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91EFCEE-B203-F966-25F5-838E81079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48D59DC-9928-DE5C-89CE-B1B83B7A5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157C2-6248-4D93-AEAC-5604271B74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18377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929490-F8EC-88BD-3741-F0CCB593E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98A7F69-AC1E-5985-0010-71EE376BF3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7EA099-4B22-604E-4E78-DB6A60FA1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B6A24-1CC9-490C-BCC1-E12E598D4132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017E56-A5B9-D5E6-ED80-73BCBB478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824137-0712-03D5-7F0F-2DCA734B2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157C2-6248-4D93-AEAC-5604271B74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1827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2C56EA4-58DC-6739-A757-A747930F19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7ED0076-4ECE-810D-0A98-1BC5A9A821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C50C58F-0770-D88B-0895-472E1FA72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B6A24-1CC9-490C-BCC1-E12E598D4132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0298C2-3828-9561-35D1-CE8679DFE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EBABE8A-08E6-6D09-E966-8EB7C6D3F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157C2-6248-4D93-AEAC-5604271B74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9643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B19007E-001D-24AC-8DA3-B7D9E851B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A452619-2F7C-333A-65CD-582A48B5F8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27E6F45-E3BF-B87F-55FA-1A35B660D6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8B6A24-1CC9-490C-BCC1-E12E598D4132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4BD32E-629B-52BC-2DF5-28C15F3DE9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EF65C7-FCA3-9701-85F2-BAC8A4F1CD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5157C2-6248-4D93-AEAC-5604271B74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5250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15FC3AF0-04D3-A600-3C90-96D740C90F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3987465"/>
              </p:ext>
            </p:extLst>
          </p:nvPr>
        </p:nvGraphicFramePr>
        <p:xfrm>
          <a:off x="251326" y="334654"/>
          <a:ext cx="5116208" cy="37743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16208">
                  <a:extLst>
                    <a:ext uri="{9D8B030D-6E8A-4147-A177-3AD203B41FA5}">
                      <a16:colId xmlns:a16="http://schemas.microsoft.com/office/drawing/2014/main" val="2404622863"/>
                    </a:ext>
                  </a:extLst>
                </a:gridCol>
              </a:tblGrid>
              <a:tr h="8242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0" dirty="0"/>
                        <a:t>unit</a:t>
                      </a:r>
                      <a:endParaRPr lang="ko-KR" altLang="en-US" sz="4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6145139"/>
                  </a:ext>
                </a:extLst>
              </a:tr>
              <a:tr h="121276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dirty="0"/>
                        <a:t>-</a:t>
                      </a:r>
                      <a:r>
                        <a:rPr lang="en-US" altLang="ko-KR" sz="1800" dirty="0" err="1"/>
                        <a:t>maxhp:int</a:t>
                      </a:r>
                      <a:endParaRPr lang="en-US" altLang="ko-KR" sz="1800" dirty="0"/>
                    </a:p>
                    <a:p>
                      <a:pPr algn="ctr"/>
                      <a:r>
                        <a:rPr lang="en-US" altLang="ko-KR" sz="1800" dirty="0"/>
                        <a:t>-</a:t>
                      </a:r>
                      <a:r>
                        <a:rPr lang="en-US" altLang="ko-KR" sz="1800" dirty="0" err="1"/>
                        <a:t>hp:int</a:t>
                      </a:r>
                      <a:endParaRPr lang="en-US" altLang="ko-KR" sz="1800" dirty="0"/>
                    </a:p>
                    <a:p>
                      <a:pPr algn="ctr"/>
                      <a:r>
                        <a:rPr lang="en-US" altLang="ko-KR" sz="1800" dirty="0"/>
                        <a:t>-</a:t>
                      </a:r>
                      <a:r>
                        <a:rPr lang="en-US" altLang="ko-KR" sz="1800" dirty="0" err="1"/>
                        <a:t>amr</a:t>
                      </a:r>
                      <a:r>
                        <a:rPr lang="en-US" altLang="ko-KR" sz="1800" dirty="0"/>
                        <a:t>: int</a:t>
                      </a:r>
                    </a:p>
                    <a:p>
                      <a:pPr algn="ctr"/>
                      <a:r>
                        <a:rPr lang="en-US" altLang="ko-KR" sz="1800" dirty="0"/>
                        <a:t>-</a:t>
                      </a:r>
                      <a:r>
                        <a:rPr lang="en-US" altLang="ko-KR" sz="1800" dirty="0" err="1"/>
                        <a:t>sightRange:int</a:t>
                      </a:r>
                      <a:endParaRPr lang="en-US" altLang="ko-KR" sz="1800" dirty="0"/>
                    </a:p>
                    <a:p>
                      <a:pPr algn="ctr"/>
                      <a:r>
                        <a:rPr lang="en-US" altLang="ko-KR" sz="1800" dirty="0"/>
                        <a:t>-</a:t>
                      </a:r>
                      <a:r>
                        <a:rPr lang="en-US" altLang="ko-KR" sz="1800" dirty="0" err="1"/>
                        <a:t>speed:double</a:t>
                      </a:r>
                      <a:endParaRPr lang="en-US" altLang="ko-KR" sz="1800" dirty="0"/>
                    </a:p>
                    <a:p>
                      <a:pPr algn="ctr"/>
                      <a:r>
                        <a:rPr lang="en-US" altLang="ko-KR" sz="1800" dirty="0"/>
                        <a:t>-</a:t>
                      </a:r>
                      <a:r>
                        <a:rPr lang="en-US" altLang="ko-KR" sz="1800" dirty="0" err="1"/>
                        <a:t>size:String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1446252"/>
                  </a:ext>
                </a:extLst>
              </a:tr>
              <a:tr h="1212761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324390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12B268B2-B822-C244-68DA-15501F734B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7740649"/>
              </p:ext>
            </p:extLst>
          </p:nvPr>
        </p:nvGraphicFramePr>
        <p:xfrm>
          <a:off x="7217907" y="517955"/>
          <a:ext cx="1280938" cy="1718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938">
                  <a:extLst>
                    <a:ext uri="{9D8B030D-6E8A-4147-A177-3AD203B41FA5}">
                      <a16:colId xmlns:a16="http://schemas.microsoft.com/office/drawing/2014/main" val="2404622863"/>
                    </a:ext>
                  </a:extLst>
                </a:gridCol>
              </a:tblGrid>
              <a:tr h="7330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300" dirty="0"/>
                        <a:t>&lt;&lt;interface&gt;&gt;</a:t>
                      </a:r>
                      <a:endParaRPr lang="ko-KR" altLang="en-US" sz="2300" dirty="0"/>
                    </a:p>
                  </a:txBody>
                  <a:tcPr marL="83128" marR="83128" marT="31227" marB="31227"/>
                </a:tc>
                <a:extLst>
                  <a:ext uri="{0D108BD9-81ED-4DB2-BD59-A6C34878D82A}">
                    <a16:rowId xmlns:a16="http://schemas.microsoft.com/office/drawing/2014/main" val="1406145139"/>
                  </a:ext>
                </a:extLst>
              </a:tr>
              <a:tr h="47749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 dirty="0" err="1"/>
                        <a:t>IAttack</a:t>
                      </a:r>
                      <a:endParaRPr lang="ko-KR" altLang="en-US" sz="1300" dirty="0"/>
                    </a:p>
                  </a:txBody>
                  <a:tcPr marL="83128" marR="83128" marT="31227" marB="31227"/>
                </a:tc>
                <a:extLst>
                  <a:ext uri="{0D108BD9-81ED-4DB2-BD59-A6C34878D82A}">
                    <a16:rowId xmlns:a16="http://schemas.microsoft.com/office/drawing/2014/main" val="471446252"/>
                  </a:ext>
                </a:extLst>
              </a:tr>
              <a:tr h="47749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 dirty="0" err="1"/>
                        <a:t>Moveattack</a:t>
                      </a:r>
                      <a:endParaRPr lang="en-US" altLang="ko-KR" sz="1300" dirty="0"/>
                    </a:p>
                    <a:p>
                      <a:pPr latinLnBrk="1"/>
                      <a:r>
                        <a:rPr lang="en-US" altLang="ko-KR" sz="1300" dirty="0"/>
                        <a:t>attack</a:t>
                      </a:r>
                      <a:endParaRPr lang="ko-KR" altLang="en-US" sz="1300" dirty="0"/>
                    </a:p>
                  </a:txBody>
                  <a:tcPr marL="83128" marR="83128" marT="31227" marB="31227"/>
                </a:tc>
                <a:extLst>
                  <a:ext uri="{0D108BD9-81ED-4DB2-BD59-A6C34878D82A}">
                    <a16:rowId xmlns:a16="http://schemas.microsoft.com/office/drawing/2014/main" val="98324390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779A8851-64C9-CC31-9970-534B0990D8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5848251"/>
              </p:ext>
            </p:extLst>
          </p:nvPr>
        </p:nvGraphicFramePr>
        <p:xfrm>
          <a:off x="8685089" y="96101"/>
          <a:ext cx="1280938" cy="13539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938">
                  <a:extLst>
                    <a:ext uri="{9D8B030D-6E8A-4147-A177-3AD203B41FA5}">
                      <a16:colId xmlns:a16="http://schemas.microsoft.com/office/drawing/2014/main" val="2404622863"/>
                    </a:ext>
                  </a:extLst>
                </a:gridCol>
              </a:tblGrid>
              <a:tr h="7330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300" dirty="0"/>
                        <a:t>지상</a:t>
                      </a:r>
                      <a:endParaRPr lang="en-US" altLang="ko-KR" sz="2300" dirty="0"/>
                    </a:p>
                    <a:p>
                      <a:pPr algn="ctr" latinLnBrk="1"/>
                      <a:r>
                        <a:rPr lang="ko-KR" altLang="en-US" sz="2300" dirty="0"/>
                        <a:t>공격</a:t>
                      </a:r>
                    </a:p>
                  </a:txBody>
                  <a:tcPr marL="83128" marR="83128" marT="31227" marB="31227"/>
                </a:tc>
                <a:extLst>
                  <a:ext uri="{0D108BD9-81ED-4DB2-BD59-A6C34878D82A}">
                    <a16:rowId xmlns:a16="http://schemas.microsoft.com/office/drawing/2014/main" val="1406145139"/>
                  </a:ext>
                </a:extLst>
              </a:tr>
              <a:tr h="295210">
                <a:tc>
                  <a:txBody>
                    <a:bodyPr/>
                    <a:lstStyle/>
                    <a:p>
                      <a:pPr latinLnBrk="1"/>
                      <a:endParaRPr lang="ko-KR" altLang="en-US" sz="1300" dirty="0"/>
                    </a:p>
                  </a:txBody>
                  <a:tcPr marL="83128" marR="83128" marT="31227" marB="31227"/>
                </a:tc>
                <a:extLst>
                  <a:ext uri="{0D108BD9-81ED-4DB2-BD59-A6C34878D82A}">
                    <a16:rowId xmlns:a16="http://schemas.microsoft.com/office/drawing/2014/main" val="471446252"/>
                  </a:ext>
                </a:extLst>
              </a:tr>
              <a:tr h="295210">
                <a:tc>
                  <a:txBody>
                    <a:bodyPr/>
                    <a:lstStyle/>
                    <a:p>
                      <a:pPr latinLnBrk="1"/>
                      <a:endParaRPr lang="ko-KR" altLang="en-US" sz="1300" dirty="0"/>
                    </a:p>
                  </a:txBody>
                  <a:tcPr marL="83128" marR="83128" marT="31227" marB="31227"/>
                </a:tc>
                <a:extLst>
                  <a:ext uri="{0D108BD9-81ED-4DB2-BD59-A6C34878D82A}">
                    <a16:rowId xmlns:a16="http://schemas.microsoft.com/office/drawing/2014/main" val="98324390"/>
                  </a:ext>
                </a:extLst>
              </a:tr>
            </a:tbl>
          </a:graphicData>
        </a:graphic>
      </p:graphicFrame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2386954D-42C3-77D3-19EB-326D283852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901917"/>
              </p:ext>
            </p:extLst>
          </p:nvPr>
        </p:nvGraphicFramePr>
        <p:xfrm>
          <a:off x="10152272" y="136399"/>
          <a:ext cx="1280938" cy="13190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938">
                  <a:extLst>
                    <a:ext uri="{9D8B030D-6E8A-4147-A177-3AD203B41FA5}">
                      <a16:colId xmlns:a16="http://schemas.microsoft.com/office/drawing/2014/main" val="2404622863"/>
                    </a:ext>
                  </a:extLst>
                </a:gridCol>
              </a:tblGrid>
              <a:tr h="72863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300" dirty="0"/>
                        <a:t>none</a:t>
                      </a:r>
                      <a:endParaRPr lang="ko-KR" altLang="en-US" sz="2300" dirty="0"/>
                    </a:p>
                  </a:txBody>
                  <a:tcPr marL="83128" marR="83128" marT="31227" marB="31227"/>
                </a:tc>
                <a:extLst>
                  <a:ext uri="{0D108BD9-81ED-4DB2-BD59-A6C34878D82A}">
                    <a16:rowId xmlns:a16="http://schemas.microsoft.com/office/drawing/2014/main" val="1406145139"/>
                  </a:ext>
                </a:extLst>
              </a:tr>
              <a:tr h="295210">
                <a:tc>
                  <a:txBody>
                    <a:bodyPr/>
                    <a:lstStyle/>
                    <a:p>
                      <a:pPr latinLnBrk="1"/>
                      <a:endParaRPr lang="ko-KR" altLang="en-US" sz="1300" dirty="0"/>
                    </a:p>
                  </a:txBody>
                  <a:tcPr marL="83128" marR="83128" marT="31227" marB="31227"/>
                </a:tc>
                <a:extLst>
                  <a:ext uri="{0D108BD9-81ED-4DB2-BD59-A6C34878D82A}">
                    <a16:rowId xmlns:a16="http://schemas.microsoft.com/office/drawing/2014/main" val="471446252"/>
                  </a:ext>
                </a:extLst>
              </a:tr>
              <a:tr h="295210">
                <a:tc>
                  <a:txBody>
                    <a:bodyPr/>
                    <a:lstStyle/>
                    <a:p>
                      <a:pPr latinLnBrk="1"/>
                      <a:endParaRPr lang="ko-KR" altLang="en-US" sz="1300" dirty="0"/>
                    </a:p>
                  </a:txBody>
                  <a:tcPr marL="83128" marR="83128" marT="31227" marB="31227"/>
                </a:tc>
                <a:extLst>
                  <a:ext uri="{0D108BD9-81ED-4DB2-BD59-A6C34878D82A}">
                    <a16:rowId xmlns:a16="http://schemas.microsoft.com/office/drawing/2014/main" val="98324390"/>
                  </a:ext>
                </a:extLst>
              </a:tr>
            </a:tbl>
          </a:graphicData>
        </a:graphic>
      </p:graphicFrame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9058EE76-54B2-0033-A674-8F5A7BF8E8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9248616"/>
              </p:ext>
            </p:extLst>
          </p:nvPr>
        </p:nvGraphicFramePr>
        <p:xfrm>
          <a:off x="7217906" y="2418749"/>
          <a:ext cx="1280938" cy="1718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938">
                  <a:extLst>
                    <a:ext uri="{9D8B030D-6E8A-4147-A177-3AD203B41FA5}">
                      <a16:colId xmlns:a16="http://schemas.microsoft.com/office/drawing/2014/main" val="2404622863"/>
                    </a:ext>
                  </a:extLst>
                </a:gridCol>
              </a:tblGrid>
              <a:tr h="72863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300" dirty="0"/>
                        <a:t>&lt;&lt;interface&gt;&gt;</a:t>
                      </a:r>
                      <a:endParaRPr lang="ko-KR" altLang="en-US" sz="2300" dirty="0"/>
                    </a:p>
                  </a:txBody>
                  <a:tcPr marL="83128" marR="83128" marT="31227" marB="31227"/>
                </a:tc>
                <a:extLst>
                  <a:ext uri="{0D108BD9-81ED-4DB2-BD59-A6C34878D82A}">
                    <a16:rowId xmlns:a16="http://schemas.microsoft.com/office/drawing/2014/main" val="1406145139"/>
                  </a:ext>
                </a:extLst>
              </a:tr>
              <a:tr h="47749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/>
                        <a:t>movetype</a:t>
                      </a:r>
                      <a:endParaRPr lang="ko-KR" altLang="en-US" sz="1300" dirty="0"/>
                    </a:p>
                  </a:txBody>
                  <a:tcPr marL="83128" marR="83128" marT="31227" marB="31227"/>
                </a:tc>
                <a:extLst>
                  <a:ext uri="{0D108BD9-81ED-4DB2-BD59-A6C34878D82A}">
                    <a16:rowId xmlns:a16="http://schemas.microsoft.com/office/drawing/2014/main" val="471446252"/>
                  </a:ext>
                </a:extLst>
              </a:tr>
              <a:tr h="477497">
                <a:tc>
                  <a:txBody>
                    <a:bodyPr/>
                    <a:lstStyle/>
                    <a:p>
                      <a:pPr latinLnBrk="1"/>
                      <a:endParaRPr lang="ko-KR" altLang="en-US" sz="1300" dirty="0"/>
                    </a:p>
                  </a:txBody>
                  <a:tcPr marL="83128" marR="83128" marT="31227" marB="31227"/>
                </a:tc>
                <a:extLst>
                  <a:ext uri="{0D108BD9-81ED-4DB2-BD59-A6C34878D82A}">
                    <a16:rowId xmlns:a16="http://schemas.microsoft.com/office/drawing/2014/main" val="98324390"/>
                  </a:ext>
                </a:extLst>
              </a:tr>
            </a:tbl>
          </a:graphicData>
        </a:graphic>
      </p:graphicFrame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911C3D3C-09AF-7AB8-5252-C467EFDED4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0028073"/>
              </p:ext>
            </p:extLst>
          </p:nvPr>
        </p:nvGraphicFramePr>
        <p:xfrm>
          <a:off x="8677808" y="2759059"/>
          <a:ext cx="1280938" cy="10092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938">
                  <a:extLst>
                    <a:ext uri="{9D8B030D-6E8A-4147-A177-3AD203B41FA5}">
                      <a16:colId xmlns:a16="http://schemas.microsoft.com/office/drawing/2014/main" val="2404622863"/>
                    </a:ext>
                  </a:extLst>
                </a:gridCol>
              </a:tblGrid>
              <a:tr h="4188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300" dirty="0"/>
                        <a:t>walk</a:t>
                      </a:r>
                      <a:endParaRPr lang="ko-KR" altLang="en-US" sz="2300" dirty="0"/>
                    </a:p>
                  </a:txBody>
                  <a:tcPr marL="83128" marR="83128" marT="31227" marB="31227"/>
                </a:tc>
                <a:extLst>
                  <a:ext uri="{0D108BD9-81ED-4DB2-BD59-A6C34878D82A}">
                    <a16:rowId xmlns:a16="http://schemas.microsoft.com/office/drawing/2014/main" val="1406145139"/>
                  </a:ext>
                </a:extLst>
              </a:tr>
              <a:tr h="295210">
                <a:tc>
                  <a:txBody>
                    <a:bodyPr/>
                    <a:lstStyle/>
                    <a:p>
                      <a:pPr latinLnBrk="1"/>
                      <a:endParaRPr lang="ko-KR" altLang="en-US" sz="1300" dirty="0"/>
                    </a:p>
                  </a:txBody>
                  <a:tcPr marL="83128" marR="83128" marT="31227" marB="31227"/>
                </a:tc>
                <a:extLst>
                  <a:ext uri="{0D108BD9-81ED-4DB2-BD59-A6C34878D82A}">
                    <a16:rowId xmlns:a16="http://schemas.microsoft.com/office/drawing/2014/main" val="471446252"/>
                  </a:ext>
                </a:extLst>
              </a:tr>
              <a:tr h="295210">
                <a:tc>
                  <a:txBody>
                    <a:bodyPr/>
                    <a:lstStyle/>
                    <a:p>
                      <a:pPr latinLnBrk="1"/>
                      <a:endParaRPr lang="ko-KR" altLang="en-US" sz="1300" dirty="0"/>
                    </a:p>
                  </a:txBody>
                  <a:tcPr marL="83128" marR="83128" marT="31227" marB="31227"/>
                </a:tc>
                <a:extLst>
                  <a:ext uri="{0D108BD9-81ED-4DB2-BD59-A6C34878D82A}">
                    <a16:rowId xmlns:a16="http://schemas.microsoft.com/office/drawing/2014/main" val="98324390"/>
                  </a:ext>
                </a:extLst>
              </a:tr>
            </a:tbl>
          </a:graphicData>
        </a:graphic>
      </p:graphicFrame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C916EA52-B8DC-498A-7207-9F9D353FF9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743867"/>
              </p:ext>
            </p:extLst>
          </p:nvPr>
        </p:nvGraphicFramePr>
        <p:xfrm>
          <a:off x="10152272" y="2762236"/>
          <a:ext cx="1280938" cy="10092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938">
                  <a:extLst>
                    <a:ext uri="{9D8B030D-6E8A-4147-A177-3AD203B41FA5}">
                      <a16:colId xmlns:a16="http://schemas.microsoft.com/office/drawing/2014/main" val="2404622863"/>
                    </a:ext>
                  </a:extLst>
                </a:gridCol>
              </a:tblGrid>
              <a:tr h="4188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300" dirty="0"/>
                        <a:t>fly</a:t>
                      </a:r>
                      <a:endParaRPr lang="ko-KR" altLang="en-US" sz="2300" dirty="0"/>
                    </a:p>
                  </a:txBody>
                  <a:tcPr marL="83128" marR="83128" marT="31227" marB="31227"/>
                </a:tc>
                <a:extLst>
                  <a:ext uri="{0D108BD9-81ED-4DB2-BD59-A6C34878D82A}">
                    <a16:rowId xmlns:a16="http://schemas.microsoft.com/office/drawing/2014/main" val="1406145139"/>
                  </a:ext>
                </a:extLst>
              </a:tr>
              <a:tr h="295210">
                <a:tc>
                  <a:txBody>
                    <a:bodyPr/>
                    <a:lstStyle/>
                    <a:p>
                      <a:pPr latinLnBrk="1"/>
                      <a:endParaRPr lang="ko-KR" altLang="en-US" sz="1300" dirty="0"/>
                    </a:p>
                  </a:txBody>
                  <a:tcPr marL="83128" marR="83128" marT="31227" marB="31227"/>
                </a:tc>
                <a:extLst>
                  <a:ext uri="{0D108BD9-81ED-4DB2-BD59-A6C34878D82A}">
                    <a16:rowId xmlns:a16="http://schemas.microsoft.com/office/drawing/2014/main" val="471446252"/>
                  </a:ext>
                </a:extLst>
              </a:tr>
              <a:tr h="295210">
                <a:tc>
                  <a:txBody>
                    <a:bodyPr/>
                    <a:lstStyle/>
                    <a:p>
                      <a:pPr latinLnBrk="1"/>
                      <a:endParaRPr lang="ko-KR" altLang="en-US" sz="1300" dirty="0"/>
                    </a:p>
                  </a:txBody>
                  <a:tcPr marL="83128" marR="83128" marT="31227" marB="31227"/>
                </a:tc>
                <a:extLst>
                  <a:ext uri="{0D108BD9-81ED-4DB2-BD59-A6C34878D82A}">
                    <a16:rowId xmlns:a16="http://schemas.microsoft.com/office/drawing/2014/main" val="98324390"/>
                  </a:ext>
                </a:extLst>
              </a:tr>
            </a:tbl>
          </a:graphicData>
        </a:graphic>
      </p:graphicFrame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1C696C07-654D-1AE6-9DF1-60F3C74C0C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2035429"/>
              </p:ext>
            </p:extLst>
          </p:nvPr>
        </p:nvGraphicFramePr>
        <p:xfrm>
          <a:off x="1246902" y="4331813"/>
          <a:ext cx="1148824" cy="23160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8824">
                  <a:extLst>
                    <a:ext uri="{9D8B030D-6E8A-4147-A177-3AD203B41FA5}">
                      <a16:colId xmlns:a16="http://schemas.microsoft.com/office/drawing/2014/main" val="2404622863"/>
                    </a:ext>
                  </a:extLst>
                </a:gridCol>
              </a:tblGrid>
              <a:tr h="6997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300" dirty="0"/>
                        <a:t>zealot</a:t>
                      </a:r>
                      <a:endParaRPr lang="ko-KR" altLang="en-US" sz="2300" dirty="0"/>
                    </a:p>
                  </a:txBody>
                  <a:tcPr marL="56777" marR="56777" marT="50292" marB="50292"/>
                </a:tc>
                <a:extLst>
                  <a:ext uri="{0D108BD9-81ED-4DB2-BD59-A6C34878D82A}">
                    <a16:rowId xmlns:a16="http://schemas.microsoft.com/office/drawing/2014/main" val="1406145139"/>
                  </a:ext>
                </a:extLst>
              </a:tr>
              <a:tr h="808178">
                <a:tc>
                  <a:txBody>
                    <a:bodyPr/>
                    <a:lstStyle/>
                    <a:p>
                      <a:pPr latinLnBrk="1"/>
                      <a:endParaRPr lang="ko-KR" altLang="en-US" sz="2100" dirty="0"/>
                    </a:p>
                  </a:txBody>
                  <a:tcPr marL="56777" marR="56777" marT="50292" marB="50292"/>
                </a:tc>
                <a:extLst>
                  <a:ext uri="{0D108BD9-81ED-4DB2-BD59-A6C34878D82A}">
                    <a16:rowId xmlns:a16="http://schemas.microsoft.com/office/drawing/2014/main" val="471446252"/>
                  </a:ext>
                </a:extLst>
              </a:tr>
              <a:tr h="808178">
                <a:tc>
                  <a:txBody>
                    <a:bodyPr/>
                    <a:lstStyle/>
                    <a:p>
                      <a:pPr latinLnBrk="1"/>
                      <a:endParaRPr lang="ko-KR" altLang="en-US" sz="2100" dirty="0"/>
                    </a:p>
                  </a:txBody>
                  <a:tcPr marL="56777" marR="56777" marT="50292" marB="50292"/>
                </a:tc>
                <a:extLst>
                  <a:ext uri="{0D108BD9-81ED-4DB2-BD59-A6C34878D82A}">
                    <a16:rowId xmlns:a16="http://schemas.microsoft.com/office/drawing/2014/main" val="98324390"/>
                  </a:ext>
                </a:extLst>
              </a:tr>
            </a:tbl>
          </a:graphicData>
        </a:graphic>
      </p:graphicFrame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C61B2A0C-AA3D-C2A6-BED9-241567F05D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3388382"/>
              </p:ext>
            </p:extLst>
          </p:nvPr>
        </p:nvGraphicFramePr>
        <p:xfrm>
          <a:off x="2602465" y="4339834"/>
          <a:ext cx="1148824" cy="23160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8824">
                  <a:extLst>
                    <a:ext uri="{9D8B030D-6E8A-4147-A177-3AD203B41FA5}">
                      <a16:colId xmlns:a16="http://schemas.microsoft.com/office/drawing/2014/main" val="2404622863"/>
                    </a:ext>
                  </a:extLst>
                </a:gridCol>
              </a:tblGrid>
              <a:tr h="6997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300" dirty="0" err="1"/>
                        <a:t>Mutal</a:t>
                      </a:r>
                      <a:endParaRPr lang="ko-KR" altLang="en-US" sz="2300" dirty="0"/>
                    </a:p>
                  </a:txBody>
                  <a:tcPr marL="56777" marR="56777" marT="50292" marB="50292"/>
                </a:tc>
                <a:extLst>
                  <a:ext uri="{0D108BD9-81ED-4DB2-BD59-A6C34878D82A}">
                    <a16:rowId xmlns:a16="http://schemas.microsoft.com/office/drawing/2014/main" val="1406145139"/>
                  </a:ext>
                </a:extLst>
              </a:tr>
              <a:tr h="808178">
                <a:tc>
                  <a:txBody>
                    <a:bodyPr/>
                    <a:lstStyle/>
                    <a:p>
                      <a:pPr latinLnBrk="1"/>
                      <a:endParaRPr lang="ko-KR" altLang="en-US" sz="2100" dirty="0"/>
                    </a:p>
                  </a:txBody>
                  <a:tcPr marL="56777" marR="56777" marT="50292" marB="50292"/>
                </a:tc>
                <a:extLst>
                  <a:ext uri="{0D108BD9-81ED-4DB2-BD59-A6C34878D82A}">
                    <a16:rowId xmlns:a16="http://schemas.microsoft.com/office/drawing/2014/main" val="471446252"/>
                  </a:ext>
                </a:extLst>
              </a:tr>
              <a:tr h="808178">
                <a:tc>
                  <a:txBody>
                    <a:bodyPr/>
                    <a:lstStyle/>
                    <a:p>
                      <a:pPr latinLnBrk="1"/>
                      <a:endParaRPr lang="ko-KR" altLang="en-US" sz="2100" dirty="0"/>
                    </a:p>
                  </a:txBody>
                  <a:tcPr marL="56777" marR="56777" marT="50292" marB="50292"/>
                </a:tc>
                <a:extLst>
                  <a:ext uri="{0D108BD9-81ED-4DB2-BD59-A6C34878D82A}">
                    <a16:rowId xmlns:a16="http://schemas.microsoft.com/office/drawing/2014/main" val="98324390"/>
                  </a:ext>
                </a:extLst>
              </a:tr>
            </a:tbl>
          </a:graphicData>
        </a:graphic>
      </p:graphicFrame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10B23ECD-B6B9-16D7-2ADB-3C713C90B0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5427757"/>
              </p:ext>
            </p:extLst>
          </p:nvPr>
        </p:nvGraphicFramePr>
        <p:xfrm>
          <a:off x="4062298" y="4339834"/>
          <a:ext cx="1148824" cy="23160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8824">
                  <a:extLst>
                    <a:ext uri="{9D8B030D-6E8A-4147-A177-3AD203B41FA5}">
                      <a16:colId xmlns:a16="http://schemas.microsoft.com/office/drawing/2014/main" val="2404622863"/>
                    </a:ext>
                  </a:extLst>
                </a:gridCol>
              </a:tblGrid>
              <a:tr h="6997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300" dirty="0"/>
                        <a:t>medic</a:t>
                      </a:r>
                      <a:endParaRPr lang="ko-KR" altLang="en-US" sz="2300" dirty="0"/>
                    </a:p>
                  </a:txBody>
                  <a:tcPr marL="56777" marR="56777" marT="50292" marB="50292"/>
                </a:tc>
                <a:extLst>
                  <a:ext uri="{0D108BD9-81ED-4DB2-BD59-A6C34878D82A}">
                    <a16:rowId xmlns:a16="http://schemas.microsoft.com/office/drawing/2014/main" val="1406145139"/>
                  </a:ext>
                </a:extLst>
              </a:tr>
              <a:tr h="808178">
                <a:tc>
                  <a:txBody>
                    <a:bodyPr/>
                    <a:lstStyle/>
                    <a:p>
                      <a:pPr latinLnBrk="1"/>
                      <a:endParaRPr lang="ko-KR" altLang="en-US" sz="2100" dirty="0"/>
                    </a:p>
                  </a:txBody>
                  <a:tcPr marL="56777" marR="56777" marT="50292" marB="50292"/>
                </a:tc>
                <a:extLst>
                  <a:ext uri="{0D108BD9-81ED-4DB2-BD59-A6C34878D82A}">
                    <a16:rowId xmlns:a16="http://schemas.microsoft.com/office/drawing/2014/main" val="471446252"/>
                  </a:ext>
                </a:extLst>
              </a:tr>
              <a:tr h="808178">
                <a:tc>
                  <a:txBody>
                    <a:bodyPr/>
                    <a:lstStyle/>
                    <a:p>
                      <a:pPr latinLnBrk="1"/>
                      <a:endParaRPr lang="ko-KR" altLang="en-US" sz="2100" dirty="0"/>
                    </a:p>
                  </a:txBody>
                  <a:tcPr marL="56777" marR="56777" marT="50292" marB="50292"/>
                </a:tc>
                <a:extLst>
                  <a:ext uri="{0D108BD9-81ED-4DB2-BD59-A6C34878D82A}">
                    <a16:rowId xmlns:a16="http://schemas.microsoft.com/office/drawing/2014/main" val="98324390"/>
                  </a:ext>
                </a:extLst>
              </a:tr>
            </a:tbl>
          </a:graphicData>
        </a:graphic>
      </p:graphicFrame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41CAC258-C995-BCD5-770C-89542C98F7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8166892"/>
              </p:ext>
            </p:extLst>
          </p:nvPr>
        </p:nvGraphicFramePr>
        <p:xfrm>
          <a:off x="7217905" y="4511267"/>
          <a:ext cx="1280938" cy="16836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938">
                  <a:extLst>
                    <a:ext uri="{9D8B030D-6E8A-4147-A177-3AD203B41FA5}">
                      <a16:colId xmlns:a16="http://schemas.microsoft.com/office/drawing/2014/main" val="2404622863"/>
                    </a:ext>
                  </a:extLst>
                </a:gridCol>
              </a:tblGrid>
              <a:tr h="7286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&lt;&lt;interface&gt;&gt;</a:t>
                      </a:r>
                      <a:endParaRPr lang="ko-KR" altLang="en-US" sz="1600" dirty="0"/>
                    </a:p>
                  </a:txBody>
                  <a:tcPr marL="83128" marR="83128" marT="31227" marB="31227"/>
                </a:tc>
                <a:extLst>
                  <a:ext uri="{0D108BD9-81ED-4DB2-BD59-A6C34878D82A}">
                    <a16:rowId xmlns:a16="http://schemas.microsoft.com/office/drawing/2014/main" val="1406145139"/>
                  </a:ext>
                </a:extLst>
              </a:tr>
              <a:tr h="47749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magic</a:t>
                      </a:r>
                      <a:endParaRPr lang="ko-KR" altLang="en-US" sz="1300" dirty="0"/>
                    </a:p>
                  </a:txBody>
                  <a:tcPr marL="83128" marR="83128" marT="31227" marB="31227"/>
                </a:tc>
                <a:extLst>
                  <a:ext uri="{0D108BD9-81ED-4DB2-BD59-A6C34878D82A}">
                    <a16:rowId xmlns:a16="http://schemas.microsoft.com/office/drawing/2014/main" val="471446252"/>
                  </a:ext>
                </a:extLst>
              </a:tr>
              <a:tr h="477497">
                <a:tc>
                  <a:txBody>
                    <a:bodyPr/>
                    <a:lstStyle/>
                    <a:p>
                      <a:pPr latinLnBrk="1"/>
                      <a:endParaRPr lang="ko-KR" altLang="en-US" sz="1300" dirty="0"/>
                    </a:p>
                  </a:txBody>
                  <a:tcPr marL="83128" marR="83128" marT="31227" marB="31227"/>
                </a:tc>
                <a:extLst>
                  <a:ext uri="{0D108BD9-81ED-4DB2-BD59-A6C34878D82A}">
                    <a16:rowId xmlns:a16="http://schemas.microsoft.com/office/drawing/2014/main" val="98324390"/>
                  </a:ext>
                </a:extLst>
              </a:tr>
            </a:tbl>
          </a:graphicData>
        </a:graphic>
      </p:graphicFrame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F1AC7EA5-DE4F-BF87-0410-F710CCECC8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916931"/>
              </p:ext>
            </p:extLst>
          </p:nvPr>
        </p:nvGraphicFramePr>
        <p:xfrm>
          <a:off x="8645655" y="4851577"/>
          <a:ext cx="1280938" cy="10092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938">
                  <a:extLst>
                    <a:ext uri="{9D8B030D-6E8A-4147-A177-3AD203B41FA5}">
                      <a16:colId xmlns:a16="http://schemas.microsoft.com/office/drawing/2014/main" val="2404622863"/>
                    </a:ext>
                  </a:extLst>
                </a:gridCol>
              </a:tblGrid>
              <a:tr h="4188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300" dirty="0"/>
                        <a:t>use</a:t>
                      </a:r>
                      <a:endParaRPr lang="ko-KR" altLang="en-US" sz="2300" dirty="0"/>
                    </a:p>
                  </a:txBody>
                  <a:tcPr marL="83128" marR="83128" marT="31227" marB="31227"/>
                </a:tc>
                <a:extLst>
                  <a:ext uri="{0D108BD9-81ED-4DB2-BD59-A6C34878D82A}">
                    <a16:rowId xmlns:a16="http://schemas.microsoft.com/office/drawing/2014/main" val="1406145139"/>
                  </a:ext>
                </a:extLst>
              </a:tr>
              <a:tr h="295210">
                <a:tc>
                  <a:txBody>
                    <a:bodyPr/>
                    <a:lstStyle/>
                    <a:p>
                      <a:pPr latinLnBrk="1"/>
                      <a:endParaRPr lang="ko-KR" altLang="en-US" sz="1300" dirty="0"/>
                    </a:p>
                  </a:txBody>
                  <a:tcPr marL="83128" marR="83128" marT="31227" marB="31227"/>
                </a:tc>
                <a:extLst>
                  <a:ext uri="{0D108BD9-81ED-4DB2-BD59-A6C34878D82A}">
                    <a16:rowId xmlns:a16="http://schemas.microsoft.com/office/drawing/2014/main" val="471446252"/>
                  </a:ext>
                </a:extLst>
              </a:tr>
              <a:tr h="295210">
                <a:tc>
                  <a:txBody>
                    <a:bodyPr/>
                    <a:lstStyle/>
                    <a:p>
                      <a:pPr latinLnBrk="1"/>
                      <a:endParaRPr lang="ko-KR" altLang="en-US" sz="1300" dirty="0"/>
                    </a:p>
                  </a:txBody>
                  <a:tcPr marL="83128" marR="83128" marT="31227" marB="31227"/>
                </a:tc>
                <a:extLst>
                  <a:ext uri="{0D108BD9-81ED-4DB2-BD59-A6C34878D82A}">
                    <a16:rowId xmlns:a16="http://schemas.microsoft.com/office/drawing/2014/main" val="98324390"/>
                  </a:ext>
                </a:extLst>
              </a:tr>
            </a:tbl>
          </a:graphicData>
        </a:graphic>
      </p:graphicFrame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6E7A957F-3807-6D01-0F84-FC2AE316D2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591453"/>
              </p:ext>
            </p:extLst>
          </p:nvPr>
        </p:nvGraphicFramePr>
        <p:xfrm>
          <a:off x="10152272" y="4851577"/>
          <a:ext cx="1280938" cy="10092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938">
                  <a:extLst>
                    <a:ext uri="{9D8B030D-6E8A-4147-A177-3AD203B41FA5}">
                      <a16:colId xmlns:a16="http://schemas.microsoft.com/office/drawing/2014/main" val="2404622863"/>
                    </a:ext>
                  </a:extLst>
                </a:gridCol>
              </a:tblGrid>
              <a:tr h="4188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300" dirty="0" err="1"/>
                        <a:t>Nouse</a:t>
                      </a:r>
                      <a:endParaRPr lang="ko-KR" altLang="en-US" sz="2300" dirty="0"/>
                    </a:p>
                  </a:txBody>
                  <a:tcPr marL="83128" marR="83128" marT="31227" marB="31227"/>
                </a:tc>
                <a:extLst>
                  <a:ext uri="{0D108BD9-81ED-4DB2-BD59-A6C34878D82A}">
                    <a16:rowId xmlns:a16="http://schemas.microsoft.com/office/drawing/2014/main" val="1406145139"/>
                  </a:ext>
                </a:extLst>
              </a:tr>
              <a:tr h="295210">
                <a:tc>
                  <a:txBody>
                    <a:bodyPr/>
                    <a:lstStyle/>
                    <a:p>
                      <a:pPr latinLnBrk="1"/>
                      <a:endParaRPr lang="ko-KR" altLang="en-US" sz="1300" dirty="0"/>
                    </a:p>
                  </a:txBody>
                  <a:tcPr marL="83128" marR="83128" marT="31227" marB="31227"/>
                </a:tc>
                <a:extLst>
                  <a:ext uri="{0D108BD9-81ED-4DB2-BD59-A6C34878D82A}">
                    <a16:rowId xmlns:a16="http://schemas.microsoft.com/office/drawing/2014/main" val="471446252"/>
                  </a:ext>
                </a:extLst>
              </a:tr>
              <a:tr h="295210">
                <a:tc>
                  <a:txBody>
                    <a:bodyPr/>
                    <a:lstStyle/>
                    <a:p>
                      <a:pPr latinLnBrk="1"/>
                      <a:endParaRPr lang="ko-KR" altLang="en-US" sz="1300" dirty="0"/>
                    </a:p>
                  </a:txBody>
                  <a:tcPr marL="83128" marR="83128" marT="31227" marB="31227"/>
                </a:tc>
                <a:extLst>
                  <a:ext uri="{0D108BD9-81ED-4DB2-BD59-A6C34878D82A}">
                    <a16:rowId xmlns:a16="http://schemas.microsoft.com/office/drawing/2014/main" val="98324390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C5177390-5C74-9681-B360-8F45A7B3D615}"/>
              </a:ext>
            </a:extLst>
          </p:cNvPr>
          <p:cNvSpPr/>
          <p:nvPr/>
        </p:nvSpPr>
        <p:spPr>
          <a:xfrm>
            <a:off x="5967660" y="2759059"/>
            <a:ext cx="950495" cy="7339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위치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3B404E7-6A24-CFE8-03B1-C9617D927C42}"/>
              </a:ext>
            </a:extLst>
          </p:cNvPr>
          <p:cNvSpPr/>
          <p:nvPr/>
        </p:nvSpPr>
        <p:spPr>
          <a:xfrm>
            <a:off x="5967662" y="1869480"/>
            <a:ext cx="950495" cy="7339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마나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372BF28-464A-7627-1FCE-8D99249A9071}"/>
              </a:ext>
            </a:extLst>
          </p:cNvPr>
          <p:cNvSpPr/>
          <p:nvPr/>
        </p:nvSpPr>
        <p:spPr>
          <a:xfrm>
            <a:off x="5967661" y="990456"/>
            <a:ext cx="950495" cy="7339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공격력</a:t>
            </a:r>
          </a:p>
        </p:txBody>
      </p:sp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F7489E39-3523-8399-4461-BB9ED61978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5544546"/>
              </p:ext>
            </p:extLst>
          </p:nvPr>
        </p:nvGraphicFramePr>
        <p:xfrm>
          <a:off x="8684753" y="1249492"/>
          <a:ext cx="1280938" cy="13539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938">
                  <a:extLst>
                    <a:ext uri="{9D8B030D-6E8A-4147-A177-3AD203B41FA5}">
                      <a16:colId xmlns:a16="http://schemas.microsoft.com/office/drawing/2014/main" val="2404622863"/>
                    </a:ext>
                  </a:extLst>
                </a:gridCol>
              </a:tblGrid>
              <a:tr h="7286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300" dirty="0"/>
                        <a:t>공중</a:t>
                      </a:r>
                      <a:endParaRPr lang="en-US" altLang="ko-KR" sz="2300" dirty="0"/>
                    </a:p>
                    <a:p>
                      <a:pPr algn="ctr" latinLnBrk="1"/>
                      <a:r>
                        <a:rPr lang="ko-KR" altLang="en-US" sz="2300" dirty="0"/>
                        <a:t>공격</a:t>
                      </a:r>
                    </a:p>
                  </a:txBody>
                  <a:tcPr marL="83128" marR="83128" marT="31227" marB="31227"/>
                </a:tc>
                <a:extLst>
                  <a:ext uri="{0D108BD9-81ED-4DB2-BD59-A6C34878D82A}">
                    <a16:rowId xmlns:a16="http://schemas.microsoft.com/office/drawing/2014/main" val="1406145139"/>
                  </a:ext>
                </a:extLst>
              </a:tr>
              <a:tr h="295210">
                <a:tc>
                  <a:txBody>
                    <a:bodyPr/>
                    <a:lstStyle/>
                    <a:p>
                      <a:pPr latinLnBrk="1"/>
                      <a:endParaRPr lang="ko-KR" altLang="en-US" sz="1300" dirty="0"/>
                    </a:p>
                  </a:txBody>
                  <a:tcPr marL="83128" marR="83128" marT="31227" marB="31227"/>
                </a:tc>
                <a:extLst>
                  <a:ext uri="{0D108BD9-81ED-4DB2-BD59-A6C34878D82A}">
                    <a16:rowId xmlns:a16="http://schemas.microsoft.com/office/drawing/2014/main" val="471446252"/>
                  </a:ext>
                </a:extLst>
              </a:tr>
              <a:tr h="295210">
                <a:tc>
                  <a:txBody>
                    <a:bodyPr/>
                    <a:lstStyle/>
                    <a:p>
                      <a:pPr latinLnBrk="1"/>
                      <a:endParaRPr lang="ko-KR" altLang="en-US" sz="1300" dirty="0"/>
                    </a:p>
                  </a:txBody>
                  <a:tcPr marL="83128" marR="83128" marT="31227" marB="31227"/>
                </a:tc>
                <a:extLst>
                  <a:ext uri="{0D108BD9-81ED-4DB2-BD59-A6C34878D82A}">
                    <a16:rowId xmlns:a16="http://schemas.microsoft.com/office/drawing/2014/main" val="98324390"/>
                  </a:ext>
                </a:extLst>
              </a:tr>
            </a:tbl>
          </a:graphicData>
        </a:graphic>
      </p:graphicFrame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2838AD72-6BD1-65FF-186D-2B689C468D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3739812"/>
              </p:ext>
            </p:extLst>
          </p:nvPr>
        </p:nvGraphicFramePr>
        <p:xfrm>
          <a:off x="10164638" y="1249492"/>
          <a:ext cx="1280938" cy="13539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938">
                  <a:extLst>
                    <a:ext uri="{9D8B030D-6E8A-4147-A177-3AD203B41FA5}">
                      <a16:colId xmlns:a16="http://schemas.microsoft.com/office/drawing/2014/main" val="2404622863"/>
                    </a:ext>
                  </a:extLst>
                </a:gridCol>
              </a:tblGrid>
              <a:tr h="7286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300" dirty="0"/>
                        <a:t>모두</a:t>
                      </a:r>
                      <a:endParaRPr lang="en-US" altLang="ko-KR" sz="2300" dirty="0"/>
                    </a:p>
                    <a:p>
                      <a:pPr algn="ctr" latinLnBrk="1"/>
                      <a:r>
                        <a:rPr lang="ko-KR" altLang="en-US" sz="2300" dirty="0"/>
                        <a:t>공격</a:t>
                      </a:r>
                    </a:p>
                  </a:txBody>
                  <a:tcPr marL="83128" marR="83128" marT="31227" marB="31227"/>
                </a:tc>
                <a:extLst>
                  <a:ext uri="{0D108BD9-81ED-4DB2-BD59-A6C34878D82A}">
                    <a16:rowId xmlns:a16="http://schemas.microsoft.com/office/drawing/2014/main" val="1406145139"/>
                  </a:ext>
                </a:extLst>
              </a:tr>
              <a:tr h="295210">
                <a:tc>
                  <a:txBody>
                    <a:bodyPr/>
                    <a:lstStyle/>
                    <a:p>
                      <a:pPr latinLnBrk="1"/>
                      <a:endParaRPr lang="ko-KR" altLang="en-US" sz="1300" dirty="0"/>
                    </a:p>
                  </a:txBody>
                  <a:tcPr marL="83128" marR="83128" marT="31227" marB="31227"/>
                </a:tc>
                <a:extLst>
                  <a:ext uri="{0D108BD9-81ED-4DB2-BD59-A6C34878D82A}">
                    <a16:rowId xmlns:a16="http://schemas.microsoft.com/office/drawing/2014/main" val="471446252"/>
                  </a:ext>
                </a:extLst>
              </a:tr>
              <a:tr h="295210">
                <a:tc>
                  <a:txBody>
                    <a:bodyPr/>
                    <a:lstStyle/>
                    <a:p>
                      <a:pPr latinLnBrk="1"/>
                      <a:endParaRPr lang="ko-KR" altLang="en-US" sz="1300" dirty="0"/>
                    </a:p>
                  </a:txBody>
                  <a:tcPr marL="83128" marR="83128" marT="31227" marB="31227"/>
                </a:tc>
                <a:extLst>
                  <a:ext uri="{0D108BD9-81ED-4DB2-BD59-A6C34878D82A}">
                    <a16:rowId xmlns:a16="http://schemas.microsoft.com/office/drawing/2014/main" val="983243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7145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F41774-97C9-1165-2D33-3DF9BDC4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979" y="466057"/>
            <a:ext cx="10515600" cy="4351338"/>
          </a:xfrm>
        </p:spPr>
        <p:txBody>
          <a:bodyPr>
            <a:normAutofit fontScale="25000" lnSpcReduction="20000"/>
          </a:bodyPr>
          <a:lstStyle/>
          <a:p>
            <a:r>
              <a:rPr lang="en-US" altLang="ko-KR" dirty="0"/>
              <a:t>A</a:t>
            </a:r>
            <a:r>
              <a:rPr lang="en-US" altLang="ko-KR" sz="4800" dirty="0"/>
              <a:t>ttack </a:t>
            </a:r>
            <a:r>
              <a:rPr lang="ko-KR" altLang="en-US" sz="4800" dirty="0"/>
              <a:t>이동 중 공격 이동 후 공격</a:t>
            </a:r>
          </a:p>
          <a:p>
            <a:endParaRPr lang="ko-KR" altLang="en-US" sz="4800" dirty="0"/>
          </a:p>
          <a:p>
            <a:r>
              <a:rPr lang="ko-KR" altLang="en-US" sz="4800" dirty="0" err="1"/>
              <a:t>어택땅</a:t>
            </a:r>
            <a:endParaRPr lang="ko-KR" altLang="en-US" sz="4800" dirty="0"/>
          </a:p>
          <a:p>
            <a:r>
              <a:rPr lang="ko-KR" altLang="en-US" sz="4800" dirty="0"/>
              <a:t>강제공격</a:t>
            </a:r>
          </a:p>
          <a:p>
            <a:endParaRPr lang="ko-KR" altLang="en-US" sz="4800" dirty="0"/>
          </a:p>
          <a:p>
            <a:r>
              <a:rPr lang="ko-KR" altLang="en-US" sz="4800" dirty="0"/>
              <a:t>공격기능</a:t>
            </a:r>
          </a:p>
          <a:p>
            <a:r>
              <a:rPr lang="ko-KR" altLang="en-US" sz="4800" dirty="0"/>
              <a:t>공격</a:t>
            </a:r>
          </a:p>
          <a:p>
            <a:r>
              <a:rPr lang="en-US" altLang="ko-KR" sz="4800" dirty="0"/>
              <a:t>Object o </a:t>
            </a:r>
          </a:p>
          <a:p>
            <a:r>
              <a:rPr lang="ko-KR" altLang="en-US" sz="4800" dirty="0"/>
              <a:t>유닛 타입 </a:t>
            </a:r>
            <a:r>
              <a:rPr lang="en-US" altLang="ko-KR" sz="4800" dirty="0"/>
              <a:t>= </a:t>
            </a:r>
            <a:r>
              <a:rPr lang="ko-KR" altLang="en-US" sz="4800" dirty="0"/>
              <a:t>강제공격</a:t>
            </a:r>
          </a:p>
          <a:p>
            <a:r>
              <a:rPr lang="ko-KR" altLang="en-US" sz="4800" dirty="0"/>
              <a:t>로케이션 타입 </a:t>
            </a:r>
            <a:r>
              <a:rPr lang="en-US" altLang="ko-KR" sz="4800" dirty="0"/>
              <a:t>= </a:t>
            </a:r>
            <a:r>
              <a:rPr lang="ko-KR" altLang="en-US" sz="4800" dirty="0"/>
              <a:t>이동 중 공격</a:t>
            </a:r>
          </a:p>
          <a:p>
            <a:endParaRPr lang="ko-KR" altLang="en-US" sz="4800" dirty="0"/>
          </a:p>
          <a:p>
            <a:r>
              <a:rPr lang="ko-KR" altLang="en-US" sz="4800" dirty="0"/>
              <a:t>위치는 </a:t>
            </a:r>
            <a:r>
              <a:rPr lang="en-US" altLang="ko-KR" sz="4800" dirty="0"/>
              <a:t>has-a</a:t>
            </a:r>
          </a:p>
          <a:p>
            <a:endParaRPr lang="en-US" altLang="ko-KR" sz="4800" dirty="0"/>
          </a:p>
          <a:p>
            <a:r>
              <a:rPr lang="en-US" altLang="ko-KR" sz="4800" dirty="0"/>
              <a:t>Move </a:t>
            </a:r>
            <a:r>
              <a:rPr lang="ko-KR" altLang="en-US" sz="4800" dirty="0" err="1"/>
              <a:t>위치값</a:t>
            </a:r>
            <a:r>
              <a:rPr lang="ko-KR" altLang="en-US" sz="4800" dirty="0"/>
              <a:t> 받아서 이동</a:t>
            </a:r>
          </a:p>
          <a:p>
            <a:endParaRPr lang="ko-KR" altLang="en-US" sz="4800" dirty="0"/>
          </a:p>
          <a:p>
            <a:r>
              <a:rPr lang="ko-KR" altLang="en-US" sz="4800" dirty="0" err="1"/>
              <a:t>무브</a:t>
            </a:r>
            <a:endParaRPr lang="ko-KR" altLang="en-US" sz="4800" dirty="0"/>
          </a:p>
          <a:p>
            <a:r>
              <a:rPr lang="ko-KR" altLang="en-US" sz="4800" dirty="0" err="1"/>
              <a:t>스탑</a:t>
            </a:r>
            <a:endParaRPr lang="ko-KR" altLang="en-US" sz="4800" dirty="0"/>
          </a:p>
          <a:p>
            <a:r>
              <a:rPr lang="ko-KR" altLang="en-US" sz="4800" dirty="0"/>
              <a:t>홀드</a:t>
            </a:r>
          </a:p>
          <a:p>
            <a:r>
              <a:rPr lang="ko-KR" altLang="en-US" sz="4800" dirty="0" err="1"/>
              <a:t>패트롤</a:t>
            </a:r>
            <a:endParaRPr lang="ko-KR" altLang="en-US" sz="4800" dirty="0"/>
          </a:p>
          <a:p>
            <a:endParaRPr lang="ko-KR" altLang="en-US" sz="4800" dirty="0"/>
          </a:p>
          <a:p>
            <a:r>
              <a:rPr lang="en-US" altLang="ko-KR" sz="4800" dirty="0"/>
              <a:t>Magic </a:t>
            </a:r>
            <a:r>
              <a:rPr lang="ko-KR" altLang="en-US" sz="4800" dirty="0"/>
              <a:t>타겟을 지정해서 </a:t>
            </a:r>
            <a:r>
              <a:rPr lang="ko-KR" altLang="en-US" sz="4800" dirty="0" err="1"/>
              <a:t>스킬효과</a:t>
            </a:r>
            <a:r>
              <a:rPr lang="ko-KR" altLang="en-US" sz="4800" dirty="0"/>
              <a:t> 부여</a:t>
            </a:r>
          </a:p>
          <a:p>
            <a:r>
              <a:rPr lang="ko-KR" altLang="en-US" sz="4800" dirty="0"/>
              <a:t>힐</a:t>
            </a:r>
          </a:p>
          <a:p>
            <a:r>
              <a:rPr lang="ko-KR" altLang="en-US" sz="4800" dirty="0" err="1"/>
              <a:t>디스펠</a:t>
            </a:r>
            <a:endParaRPr lang="ko-KR" altLang="en-US" sz="4800" dirty="0"/>
          </a:p>
          <a:p>
            <a:r>
              <a:rPr lang="ko-KR" altLang="en-US" sz="4800" dirty="0"/>
              <a:t>블라인드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954128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97</Words>
  <Application>Microsoft Office PowerPoint</Application>
  <PresentationFormat>와이드스크린</PresentationFormat>
  <Paragraphs>56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GGG</dc:creator>
  <cp:lastModifiedBy>GGG</cp:lastModifiedBy>
  <cp:revision>1</cp:revision>
  <dcterms:created xsi:type="dcterms:W3CDTF">2025-10-29T08:33:31Z</dcterms:created>
  <dcterms:modified xsi:type="dcterms:W3CDTF">2025-10-29T08:47:25Z</dcterms:modified>
</cp:coreProperties>
</file>