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3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presProps" Target="pres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590433" y="617402"/>
            <a:ext cx="834507" cy="39034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 sz="2000" b="1"/>
              <a:t>HTML</a:t>
            </a:r>
            <a:endParaRPr lang="en-US" altLang="ko-KR" sz="2000" b="1"/>
          </a:p>
        </p:txBody>
      </p:sp>
      <p:sp>
        <p:nvSpPr>
          <p:cNvPr id="5" name=""/>
          <p:cNvSpPr txBox="1"/>
          <p:nvPr/>
        </p:nvSpPr>
        <p:spPr>
          <a:xfrm>
            <a:off x="590434" y="1351858"/>
            <a:ext cx="11026945" cy="5018462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buFont typeface="Arial"/>
              <a:buNone/>
              <a:defRPr/>
            </a:pPr>
            <a:r>
              <a:rPr lang="en-US" altLang="ko-KR"/>
              <a:t>-웹 표준 문서 양식</a:t>
            </a:r>
            <a:endParaRPr lang="en-US" altLang="ko-KR"/>
          </a:p>
          <a:p>
            <a:pPr marL="0" indent="0">
              <a:buFont typeface="Arial"/>
              <a:buNone/>
              <a:defRPr/>
            </a:pPr>
            <a:endParaRPr lang="en-US" altLang="ko-KR"/>
          </a:p>
          <a:p>
            <a:pPr marL="0" indent="0">
              <a:buFont typeface="Arial"/>
              <a:buNone/>
              <a:defRPr/>
            </a:pPr>
            <a:r>
              <a:rPr lang="en-US" altLang="ko-KR"/>
              <a:t>-Hyper Text : 비선형 문서</a:t>
            </a:r>
            <a:endParaRPr lang="en-US" altLang="ko-KR"/>
          </a:p>
          <a:p>
            <a:pPr marL="0" indent="0">
              <a:buFont typeface="Arial"/>
              <a:buNone/>
              <a:defRPr/>
            </a:pPr>
            <a:endParaRPr lang="en-US" altLang="ko-KR"/>
          </a:p>
          <a:p>
            <a:pPr marL="0" indent="0">
              <a:buFont typeface="Arial"/>
              <a:buNone/>
              <a:defRPr/>
            </a:pPr>
            <a:r>
              <a:rPr lang="en-US" altLang="ko-KR"/>
              <a:t>-Markeup Language : 태그로 이루어진 문서</a:t>
            </a:r>
            <a:endParaRPr lang="en-US" altLang="ko-KR"/>
          </a:p>
          <a:p>
            <a:pPr marL="0" indent="0">
              <a:buFont typeface="Arial"/>
              <a:buNone/>
              <a:defRPr/>
            </a:pPr>
            <a:endParaRPr lang="en-US" altLang="ko-KR"/>
          </a:p>
          <a:p>
            <a:pPr marL="0" indent="0">
              <a:buFont typeface="Arial"/>
              <a:buNone/>
              <a:defRPr/>
            </a:pPr>
            <a:endParaRPr lang="en-US" altLang="ko-KR"/>
          </a:p>
          <a:p>
            <a:pPr marL="0" indent="0">
              <a:buFont typeface="Arial"/>
              <a:buNone/>
              <a:defRPr/>
            </a:pPr>
            <a:r>
              <a:rPr lang="ko-KR" altLang="en-US" b="1"/>
              <a:t>특징</a:t>
            </a:r>
            <a:endParaRPr lang="ko-KR" altLang="en-US"/>
          </a:p>
          <a:p>
            <a:pPr marL="0" indent="0">
              <a:buFont typeface="Arial"/>
              <a:buNone/>
              <a:defRPr/>
            </a:pPr>
            <a:endParaRPr lang="ko-KR" altLang="en-US"/>
          </a:p>
          <a:p>
            <a:pPr marL="0" indent="0">
              <a:buFont typeface="Arial"/>
              <a:buNone/>
              <a:defRPr/>
            </a:pPr>
            <a:r>
              <a:rPr lang="ko-KR" altLang="en-US"/>
              <a:t>-HTML 문서는 태그(TAG)로 구성된다.</a:t>
            </a:r>
            <a:endParaRPr lang="ko-KR" altLang="en-US"/>
          </a:p>
          <a:p>
            <a:pPr marL="0" indent="0">
              <a:buFont typeface="Arial"/>
              <a:buNone/>
              <a:defRPr/>
            </a:pPr>
            <a:endParaRPr lang="ko-KR" altLang="en-US"/>
          </a:p>
          <a:p>
            <a:pPr marL="0" indent="0">
              <a:buFont typeface="Arial"/>
              <a:buNone/>
              <a:defRPr/>
            </a:pPr>
            <a:r>
              <a:rPr lang="ko-KR" altLang="en-US"/>
              <a:t>-태그는 복수개의 속성을 가질 수 있다.</a:t>
            </a:r>
            <a:endParaRPr lang="ko-KR" altLang="en-US"/>
          </a:p>
          <a:p>
            <a:pPr marL="0" indent="0">
              <a:buFont typeface="Arial"/>
              <a:buNone/>
              <a:defRPr/>
            </a:pPr>
            <a:endParaRPr lang="ko-KR" altLang="en-US"/>
          </a:p>
          <a:p>
            <a:pPr marL="0" indent="0">
              <a:buFont typeface="Arial"/>
              <a:buNone/>
              <a:defRPr/>
            </a:pPr>
            <a:r>
              <a:rPr lang="ko-KR" altLang="en-US"/>
              <a:t>-HTML 문서는 텍스트 파일이다.(메모장에서 볼 수 있다.)</a:t>
            </a:r>
            <a:endParaRPr lang="ko-KR" altLang="en-US"/>
          </a:p>
          <a:p>
            <a:pPr marL="0" indent="0">
              <a:buFont typeface="Arial"/>
              <a:buNone/>
              <a:defRPr/>
            </a:pPr>
            <a:endParaRPr lang="ko-KR" altLang="en-US"/>
          </a:p>
          <a:p>
            <a:pPr marL="0" indent="0">
              <a:buFont typeface="Arial"/>
              <a:buNone/>
              <a:defRPr/>
            </a:pPr>
            <a:r>
              <a:rPr lang="ko-KR" altLang="en-US"/>
              <a:t>-확장자는 .htm 또는 .html이다.</a:t>
            </a:r>
            <a:endParaRPr lang="ko-KR" altLang="en-US"/>
          </a:p>
          <a:p>
            <a:pPr marL="0" indent="0">
              <a:buFont typeface="Arial"/>
              <a:buNone/>
              <a:defRPr/>
            </a:pPr>
            <a:endParaRPr lang="ko-KR" altLang="en-US"/>
          </a:p>
          <a:p>
            <a:pPr marL="0" indent="0">
              <a:buFont typeface="Arial"/>
              <a:buNone/>
              <a:defRPr/>
            </a:pPr>
            <a:r>
              <a:rPr lang="ko-KR" altLang="en-US"/>
              <a:t>-결과확인은 웹브라우저를 통해서 할 수 있다.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590433" y="617402"/>
            <a:ext cx="1396482" cy="39034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 sz="2000" b="1"/>
              <a:t>HTML</a:t>
            </a:r>
            <a:r>
              <a:rPr lang="ko-KR" altLang="en-US" sz="2000" b="1"/>
              <a:t> 구조</a:t>
            </a:r>
            <a:endParaRPr lang="ko-KR" altLang="en-US" sz="2000" b="1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29194" y="812573"/>
            <a:ext cx="4533610" cy="5713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590433" y="617402"/>
            <a:ext cx="1396482" cy="39034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 sz="2000" b="1"/>
              <a:t>HTML</a:t>
            </a:r>
            <a:r>
              <a:rPr lang="ko-KR" altLang="en-US" sz="2000" b="1"/>
              <a:t> 구조</a:t>
            </a:r>
            <a:endParaRPr lang="ko-KR" altLang="en-US" sz="2000" b="1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60770" y="1487387"/>
            <a:ext cx="10270461" cy="3883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590433" y="617402"/>
            <a:ext cx="1396482" cy="39034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 sz="2000" b="1"/>
              <a:t>HTML</a:t>
            </a:r>
            <a:r>
              <a:rPr lang="ko-KR" altLang="en-US" sz="2000" b="1"/>
              <a:t> 목록</a:t>
            </a:r>
            <a:endParaRPr lang="ko-KR" altLang="en-US" sz="2000" b="1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59458" y="1007745"/>
            <a:ext cx="3121250" cy="5577977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017372" y="1569262"/>
            <a:ext cx="2093487" cy="4454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346148"/>
            <a:ext cx="12192000" cy="4165704"/>
          </a:xfrm>
          <a:prstGeom prst="rect">
            <a:avLst/>
          </a:prstGeom>
        </p:spPr>
      </p:pic>
      <p:sp>
        <p:nvSpPr>
          <p:cNvPr id="8" name=""/>
          <p:cNvSpPr txBox="1"/>
          <p:nvPr/>
        </p:nvSpPr>
        <p:spPr>
          <a:xfrm>
            <a:off x="590433" y="617402"/>
            <a:ext cx="605907" cy="390343"/>
          </a:xfrm>
          <a:prstGeom prst="rect">
            <a:avLst/>
          </a:prstGeom>
        </p:spPr>
        <p:txBody>
          <a:bodyPr wrap="non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img</a:t>
            </a:r>
            <a:endPara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99874" y="0"/>
            <a:ext cx="4192251" cy="6858000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590433" y="617402"/>
            <a:ext cx="605907" cy="390343"/>
          </a:xfrm>
          <a:prstGeom prst="rect">
            <a:avLst/>
          </a:prstGeom>
        </p:spPr>
        <p:txBody>
          <a:bodyPr wrap="none">
            <a:spAutoFit/>
          </a:bodyPr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img</a:t>
            </a:r>
            <a:endPara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590433" y="617402"/>
            <a:ext cx="2006082" cy="39034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 sz="2000" b="1"/>
              <a:t>특수문자(entity)</a:t>
            </a:r>
            <a:endParaRPr lang="en-US" altLang="ko-KR" sz="2000" b="1"/>
          </a:p>
        </p:txBody>
      </p:sp>
      <p:sp>
        <p:nvSpPr>
          <p:cNvPr id="5" name=""/>
          <p:cNvSpPr txBox="1"/>
          <p:nvPr/>
        </p:nvSpPr>
        <p:spPr>
          <a:xfrm>
            <a:off x="590434" y="1351858"/>
            <a:ext cx="11026945" cy="2551487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buFont typeface="Arial"/>
              <a:buNone/>
              <a:defRPr/>
            </a:pPr>
            <a:r>
              <a:rPr lang="en-US" altLang="ko-KR"/>
              <a:t>-&amp;lt; : &lt;</a:t>
            </a:r>
            <a:endParaRPr lang="en-US" altLang="ko-KR"/>
          </a:p>
          <a:p>
            <a:pPr marL="0" indent="0">
              <a:buFont typeface="Arial"/>
              <a:buNone/>
              <a:defRPr/>
            </a:pPr>
            <a:endParaRPr lang="en-US" altLang="ko-KR"/>
          </a:p>
          <a:p>
            <a:pPr marL="0" indent="0">
              <a:buFont typeface="Arial"/>
              <a:buNone/>
              <a:defRPr/>
            </a:pPr>
            <a:r>
              <a:rPr lang="en-US" altLang="ko-KR"/>
              <a:t>-&amp;gt; : &gt;</a:t>
            </a:r>
            <a:endParaRPr lang="en-US" altLang="ko-KR"/>
          </a:p>
          <a:p>
            <a:pPr marL="0" indent="0">
              <a:buFont typeface="Arial"/>
              <a:buNone/>
              <a:defRPr/>
            </a:pPr>
            <a:endParaRPr lang="en-US" altLang="ko-KR"/>
          </a:p>
          <a:p>
            <a:pPr marL="0" indent="0">
              <a:buFont typeface="Arial"/>
              <a:buNone/>
              <a:defRPr/>
            </a:pPr>
            <a:r>
              <a:rPr lang="en-US" altLang="ko-KR"/>
              <a:t>-&amp;nbsp; : 공백 한 칸</a:t>
            </a:r>
            <a:endParaRPr lang="en-US" altLang="ko-KR"/>
          </a:p>
          <a:p>
            <a:pPr marL="0" indent="0">
              <a:buFont typeface="Arial"/>
              <a:buNone/>
              <a:defRPr/>
            </a:pPr>
            <a:endParaRPr lang="en-US" altLang="ko-KR"/>
          </a:p>
          <a:p>
            <a:pPr marL="0" indent="0">
              <a:buFont typeface="Arial"/>
              <a:buNone/>
              <a:defRPr/>
            </a:pPr>
            <a:r>
              <a:rPr lang="en-US" altLang="ko-KR"/>
              <a:t>-&amp;amp; : &amp;</a:t>
            </a:r>
            <a:endParaRPr lang="en-US" altLang="ko-KR"/>
          </a:p>
          <a:p>
            <a:pPr marL="0" indent="0">
              <a:buFont typeface="Arial"/>
              <a:buNone/>
              <a:defRPr/>
            </a:pPr>
            <a:endParaRPr lang="en-US" altLang="ko-KR"/>
          </a:p>
          <a:p>
            <a:pPr marL="0" indent="0">
              <a:buFont typeface="Arial"/>
              <a:buNone/>
              <a:defRPr/>
            </a:pPr>
            <a:r>
              <a:rPr lang="en-US" altLang="ko-KR"/>
              <a:t>-&amp;quot; : “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58</ep:Words>
  <ep:PresentationFormat>화면 슬라이드 쇼(4:3)</ep:PresentationFormat>
  <ep:Paragraphs>21</ep:Paragraphs>
  <ep:Slides>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2025-12-01T22:24:51.583</dcterms:created>
  <dc:creator>user</dc:creator>
  <cp:lastModifiedBy>user</cp:lastModifiedBy>
  <dcterms:modified xsi:type="dcterms:W3CDTF">2025-12-01T22:59:41.203</dcterms:modified>
  <cp:revision>17</cp:revision>
  <cp:version>1100.0100.01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