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6" r:id="rId3"/>
    <p:sldId id="285" r:id="rId4"/>
    <p:sldId id="282" r:id="rId5"/>
    <p:sldId id="271" r:id="rId6"/>
    <p:sldId id="283" r:id="rId7"/>
    <p:sldId id="286" r:id="rId8"/>
    <p:sldId id="289" r:id="rId9"/>
    <p:sldId id="288" r:id="rId10"/>
    <p:sldId id="28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98A8D-36EA-47F7-B72D-EE560E61C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6FAA5F-A8D4-46F8-8489-CCC7A6684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9D1F05-BECB-4E2F-A439-E44DD8C9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59E6C4-99AB-4B3B-832E-F356E411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5B5486-CF99-44DF-BF4D-4979FCEF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71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AED23-ECF1-4F6B-A865-55D126F5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7E22EF-F042-49B4-AFB5-5B3707B6E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BBB8A-10E4-43BF-AF43-77CB43C3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64B53-2865-4595-8386-BD9C345D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D36FAE-11E8-4835-A21D-4FB85A1A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537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8CD84-3A12-4C1F-9BD1-810AE486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BEAF0D-625B-48A8-8D1F-C6294DBB2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750D92-4712-4DC8-A9FD-63D4B224B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E29FA-0AA5-438F-8EB2-A85520D8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4CDF0D-642F-45A9-9106-E23107EF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5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8EB38-A658-495B-B2A8-514A6A47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ED411-73DD-46F3-A4C2-5760B9004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8E62E4-13F3-4FFB-B01B-2463CDA5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9C4686-FEA7-406E-96A3-EF3127B8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3FAC8E-C389-4C17-A81F-ACADE543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E5BF50-D305-4D6F-9F55-0BD71F7C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456A9-3A69-4943-8E1A-577943D0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AD65FF-4559-48C7-B710-53420A05A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8B51FA-AE17-4138-9ACF-7DE9B79D7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2DE8BD-D981-4E4D-93A6-B8DB7FB63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BF1458-33F9-4B2B-920F-7640BA9E2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13FDD1-FDEA-4E7E-A5BA-D01B2379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03F48A-9CE9-4E03-B554-30177375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C1815E-312A-402D-83FF-A17CF03C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05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23D4B-A482-4520-B8D6-C70F4967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97766A-E5B3-443D-BADC-76F4AEC0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164BB4-99EE-41F3-8849-50841D24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612F2-B9AE-4B08-8480-B8FD4DDF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03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12FD5F-1374-4095-A6BC-7D17EB0A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80B31D-6692-4B6D-BD54-E477582F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5CF96-FD7F-4E2D-B355-349298BF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8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E4266-DD72-47E2-B672-3A7EE000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2506A-5B80-425A-99BB-3F55F4C94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686ED8-1127-4C7E-AFDC-73CCBACAE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AA9BC8-2E9B-4BF5-A0F4-5B1D87E6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AA1770-09F1-4A06-A044-B9624D28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23DE2-758B-4CCD-B38F-C925C684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7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526BE-378E-4C61-BFDB-4E174435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9C5749-5CBA-4665-A263-D831305D7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677277-1E6F-4FB0-878D-B4CD52F8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1C2969-AE81-435A-9633-0B49DDA8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9A16B-5164-4615-A556-9BEDE804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B24F96-F5CD-4392-8C6D-8A8B3AC5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43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D58BE-8C54-4150-8133-7D4598A8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C7488B-BAA1-4D7E-A673-FB0F2D39F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C7CB9-5363-4EDF-9BCE-B955AAF8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3D80D5-57DF-4661-A65E-94CD90DB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74502C-5F63-409B-808E-07EDC1FF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536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4EC024-C8BF-4A35-AF34-D88E1F152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00FBAD-444D-4831-8912-AA6A84535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9AF1D-BA2C-4C9F-B03D-5F1CA475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BC990-AA2F-4C28-BA72-2780024D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B4BD8-7A7C-4F06-B438-69AB9AAE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02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C0E0D1-223C-41B8-A77C-127FD7F5B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AAA72D-C435-4A6E-B0B8-64910C341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3D44B-29DB-46B7-B845-658324E3E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14985-A45A-453B-9866-CCA7B0CD6D6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FCB78-84F1-424F-8F5C-26B462854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E4DB7-14B0-4E82-9096-9B50B8DB3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391EF-BC2C-4655-8C62-391A6E878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11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CF63C6-0331-465D-8559-31DFD6B24FC4}"/>
              </a:ext>
            </a:extLst>
          </p:cNvPr>
          <p:cNvSpPr txBox="1"/>
          <p:nvPr/>
        </p:nvSpPr>
        <p:spPr>
          <a:xfrm>
            <a:off x="950052" y="575067"/>
            <a:ext cx="609460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/>
              <a:t>KEYWORD</a:t>
            </a:r>
          </a:p>
          <a:p>
            <a:endParaRPr lang="en-US" altLang="ko-KR" sz="2400" dirty="0"/>
          </a:p>
          <a:p>
            <a:r>
              <a:rPr lang="en-US" altLang="ko-KR" sz="3000" dirty="0"/>
              <a:t>*</a:t>
            </a:r>
            <a:r>
              <a:rPr lang="ko-KR" altLang="en-US" sz="3000" dirty="0"/>
              <a:t>웹프로그래밍</a:t>
            </a:r>
            <a:endParaRPr lang="en-US" altLang="ko-KR" sz="3000" dirty="0"/>
          </a:p>
          <a:p>
            <a:endParaRPr lang="en-US" altLang="ko-KR" sz="3000" dirty="0"/>
          </a:p>
          <a:p>
            <a:r>
              <a:rPr lang="en-US" altLang="ko-KR" sz="3000" dirty="0"/>
              <a:t>*HTML</a:t>
            </a:r>
          </a:p>
          <a:p>
            <a:endParaRPr lang="en-US" altLang="ko-KR" sz="3000" dirty="0"/>
          </a:p>
          <a:p>
            <a:r>
              <a:rPr lang="en-US" altLang="ko-KR" sz="3000" dirty="0"/>
              <a:t>*HTML </a:t>
            </a:r>
            <a:r>
              <a:rPr lang="ko-KR" altLang="en-US" sz="3000" dirty="0"/>
              <a:t>구조</a:t>
            </a:r>
            <a:endParaRPr lang="en-US" altLang="ko-KR" sz="3000" dirty="0"/>
          </a:p>
          <a:p>
            <a:endParaRPr lang="en-US" altLang="ko-KR" sz="3000" dirty="0"/>
          </a:p>
          <a:p>
            <a:r>
              <a:rPr lang="en-US" altLang="ko-KR" sz="3000" dirty="0"/>
              <a:t>*semantic tag</a:t>
            </a:r>
          </a:p>
          <a:p>
            <a:endParaRPr lang="en-US" altLang="ko-KR" sz="3000" dirty="0"/>
          </a:p>
          <a:p>
            <a:r>
              <a:rPr lang="en-US" altLang="ko-KR" sz="3000" dirty="0"/>
              <a:t>*Selector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451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7111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웹프로그래밍</a:t>
            </a:r>
            <a:endParaRPr lang="en-US" altLang="ko-KR" sz="3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EFCA2-3F65-4E04-A8B6-0243703D3C21}"/>
              </a:ext>
            </a:extLst>
          </p:cNvPr>
          <p:cNvSpPr txBox="1"/>
          <p:nvPr/>
        </p:nvSpPr>
        <p:spPr>
          <a:xfrm>
            <a:off x="746618" y="1485446"/>
            <a:ext cx="1081341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2800" b="1" dirty="0"/>
              <a:t>개발 언어 </a:t>
            </a:r>
            <a:r>
              <a:rPr lang="en-US" altLang="ko-KR" sz="2800" b="1" dirty="0"/>
              <a:t>: </a:t>
            </a:r>
            <a:r>
              <a:rPr lang="ko-KR" altLang="en-US" sz="2800" b="1" dirty="0"/>
              <a:t>자바</a:t>
            </a:r>
            <a:endParaRPr lang="en-US" altLang="ko-KR" sz="2800" b="1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b="1" dirty="0"/>
              <a:t>웹</a:t>
            </a:r>
            <a:r>
              <a:rPr lang="en-US" altLang="ko-KR" sz="2800" b="1" dirty="0"/>
              <a:t>/</a:t>
            </a:r>
            <a:r>
              <a:rPr lang="ko-KR" altLang="en-US" sz="2800" b="1" dirty="0"/>
              <a:t>어플리케이션 서버</a:t>
            </a:r>
            <a:r>
              <a:rPr lang="ko-KR" altLang="en-US" sz="2800" dirty="0"/>
              <a:t> </a:t>
            </a:r>
            <a:r>
              <a:rPr lang="en-US" altLang="ko-KR" sz="2800" dirty="0"/>
              <a:t>: HTTPD(</a:t>
            </a:r>
            <a:r>
              <a:rPr lang="ko-KR" altLang="en-US" sz="2800" dirty="0"/>
              <a:t>아파치 웹 서버</a:t>
            </a:r>
            <a:r>
              <a:rPr lang="en-US" altLang="ko-KR" sz="2800" dirty="0"/>
              <a:t>) , TOMCAT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b="1" dirty="0"/>
              <a:t>서버 웹 기술</a:t>
            </a:r>
            <a:r>
              <a:rPr lang="ko-KR" altLang="en-US" sz="2800" dirty="0"/>
              <a:t> </a:t>
            </a:r>
            <a:r>
              <a:rPr lang="en-US" altLang="ko-KR" sz="2800" dirty="0"/>
              <a:t>: </a:t>
            </a:r>
            <a:r>
              <a:rPr lang="en-US" altLang="ko-KR" sz="2800" dirty="0">
                <a:solidFill>
                  <a:schemeClr val="accent2"/>
                </a:solidFill>
              </a:rPr>
              <a:t>JSP</a:t>
            </a:r>
            <a:r>
              <a:rPr lang="ko-KR" altLang="en-US" sz="2800" dirty="0">
                <a:solidFill>
                  <a:schemeClr val="accent2"/>
                </a:solidFill>
              </a:rPr>
              <a:t>와 </a:t>
            </a:r>
            <a:r>
              <a:rPr lang="ko-KR" altLang="en-US" sz="2800" dirty="0" err="1">
                <a:solidFill>
                  <a:schemeClr val="accent2"/>
                </a:solidFill>
              </a:rPr>
              <a:t>서블릿</a:t>
            </a:r>
            <a:r>
              <a:rPr lang="ko-KR" altLang="en-US" sz="2800" dirty="0">
                <a:solidFill>
                  <a:schemeClr val="accent2"/>
                </a:solidFill>
              </a:rPr>
              <a:t> </a:t>
            </a:r>
            <a:r>
              <a:rPr lang="en-US" altLang="ko-KR" sz="2800" dirty="0"/>
              <a:t>/ </a:t>
            </a:r>
            <a:r>
              <a:rPr lang="ko-KR" altLang="en-US" sz="2800" dirty="0" err="1"/>
              <a:t>백엔드</a:t>
            </a:r>
            <a:r>
              <a:rPr lang="ko-KR" altLang="en-US" sz="2800" dirty="0"/>
              <a:t> </a:t>
            </a:r>
            <a:r>
              <a:rPr lang="en-US" altLang="ko-KR" sz="2800" dirty="0"/>
              <a:t>// </a:t>
            </a:r>
            <a:r>
              <a:rPr lang="ko-KR" altLang="en-US" sz="2800" dirty="0"/>
              <a:t>표준 </a:t>
            </a:r>
            <a:r>
              <a:rPr lang="ko-KR" altLang="en-US" sz="2800" dirty="0" err="1"/>
              <a:t>웹기술</a:t>
            </a:r>
            <a:endParaRPr lang="en-US" altLang="ko-KR" sz="2800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b="1" dirty="0"/>
              <a:t>클라이언트 웹 기술</a:t>
            </a:r>
            <a:r>
              <a:rPr lang="ko-KR" altLang="en-US" sz="2800" dirty="0"/>
              <a:t> </a:t>
            </a:r>
            <a:r>
              <a:rPr lang="en-US" altLang="ko-KR" sz="2800" dirty="0"/>
              <a:t>:[ </a:t>
            </a:r>
            <a:r>
              <a:rPr lang="ko-KR" altLang="en-US" sz="2800" dirty="0"/>
              <a:t>브라우저 상에서 연산이 되는 </a:t>
            </a:r>
            <a:r>
              <a:rPr lang="en-US" altLang="ko-KR" sz="2800" dirty="0"/>
              <a:t>]</a:t>
            </a:r>
          </a:p>
          <a:p>
            <a:pPr lvl="1"/>
            <a:r>
              <a:rPr lang="en-US" altLang="ko-KR" sz="2800" dirty="0"/>
              <a:t>			  </a:t>
            </a:r>
            <a:r>
              <a:rPr lang="en-US" altLang="ko-KR" sz="2800" dirty="0">
                <a:solidFill>
                  <a:schemeClr val="accent2"/>
                </a:solidFill>
              </a:rPr>
              <a:t>HTML, </a:t>
            </a:r>
            <a:r>
              <a:rPr lang="ko-KR" altLang="en-US" sz="2800" dirty="0">
                <a:solidFill>
                  <a:schemeClr val="accent2"/>
                </a:solidFill>
              </a:rPr>
              <a:t>자바 스크립트 </a:t>
            </a:r>
            <a:r>
              <a:rPr lang="en-US" altLang="ko-KR" sz="2800" dirty="0"/>
              <a:t>/ </a:t>
            </a:r>
            <a:r>
              <a:rPr lang="ko-KR" altLang="en-US" sz="2800" dirty="0" err="1"/>
              <a:t>프런트엔드</a:t>
            </a:r>
            <a:endParaRPr lang="en-US" altLang="ko-KR" sz="2800" dirty="0"/>
          </a:p>
          <a:p>
            <a:pPr lvl="1"/>
            <a:endParaRPr lang="ko-KR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b="1" dirty="0"/>
              <a:t>서버 웹 기술을 위한 프레임워크</a:t>
            </a:r>
            <a:r>
              <a:rPr lang="ko-KR" altLang="en-US" sz="2800" dirty="0"/>
              <a:t> </a:t>
            </a:r>
            <a:r>
              <a:rPr lang="en-US" altLang="ko-KR" sz="2800" dirty="0"/>
              <a:t>: </a:t>
            </a:r>
            <a:r>
              <a:rPr lang="ko-KR" altLang="en-US" sz="2800" dirty="0"/>
              <a:t>스프링 </a:t>
            </a:r>
            <a:r>
              <a:rPr lang="en-US" altLang="ko-KR" sz="2800" dirty="0"/>
              <a:t>MVC (Model View     </a:t>
            </a:r>
          </a:p>
          <a:p>
            <a:r>
              <a:rPr lang="en-US" altLang="ko-KR" sz="2800" dirty="0"/>
              <a:t> Controller) </a:t>
            </a:r>
            <a:r>
              <a:rPr lang="en-US" altLang="ko-KR" sz="2800" dirty="0">
                <a:solidFill>
                  <a:schemeClr val="accent2"/>
                </a:solidFill>
              </a:rPr>
              <a:t>[ </a:t>
            </a:r>
            <a:r>
              <a:rPr lang="ko-KR" altLang="en-US" sz="2800" dirty="0">
                <a:solidFill>
                  <a:schemeClr val="accent2"/>
                </a:solidFill>
              </a:rPr>
              <a:t>핵심 </a:t>
            </a:r>
            <a:r>
              <a:rPr lang="en-US" altLang="ko-KR" sz="2800" dirty="0">
                <a:solidFill>
                  <a:schemeClr val="accent2"/>
                </a:solidFill>
              </a:rPr>
              <a:t>]MVC</a:t>
            </a:r>
            <a:r>
              <a:rPr lang="ko-KR" altLang="en-US" sz="2800" dirty="0">
                <a:solidFill>
                  <a:schemeClr val="accent2"/>
                </a:solidFill>
              </a:rPr>
              <a:t>구조에 맞게</a:t>
            </a:r>
            <a:r>
              <a:rPr lang="ko-KR" altLang="en-US" sz="2800" dirty="0"/>
              <a:t>끔 만들어 수 있어야 한다</a:t>
            </a:r>
            <a:r>
              <a:rPr lang="en-US" altLang="ko-KR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6027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7111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웹프로그래밍</a:t>
            </a:r>
            <a:endParaRPr lang="en-US" altLang="ko-KR" sz="3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EFCA2-3F65-4E04-A8B6-0243703D3C21}"/>
              </a:ext>
            </a:extLst>
          </p:cNvPr>
          <p:cNvSpPr txBox="1"/>
          <p:nvPr/>
        </p:nvSpPr>
        <p:spPr>
          <a:xfrm>
            <a:off x="746618" y="1485446"/>
            <a:ext cx="1081341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dirty="0"/>
              <a:t>클라이언트 웹 기술을 위한 프레임워크</a:t>
            </a:r>
            <a:r>
              <a:rPr lang="en-US" altLang="ko-KR" sz="2800" dirty="0"/>
              <a:t>: (</a:t>
            </a:r>
            <a:r>
              <a:rPr lang="ko-KR" altLang="en-US" sz="2800" dirty="0"/>
              <a:t>자바스크립트를 </a:t>
            </a:r>
            <a:endParaRPr lang="en-US" altLang="ko-KR" sz="2800" dirty="0"/>
          </a:p>
          <a:p>
            <a:r>
              <a:rPr lang="en-US" altLang="ko-KR" sz="2800" dirty="0"/>
              <a:t>  </a:t>
            </a:r>
            <a:r>
              <a:rPr lang="ko-KR" altLang="en-US" sz="2800" dirty="0"/>
              <a:t>쓰면 모여 있는 라이브러리 같은 것</a:t>
            </a:r>
            <a:r>
              <a:rPr lang="en-US" altLang="ko-KR" sz="2800" dirty="0"/>
              <a:t>) : jQuery, </a:t>
            </a:r>
            <a:r>
              <a:rPr lang="ko-KR" altLang="en-US" sz="2800" dirty="0" err="1"/>
              <a:t>앵귤러</a:t>
            </a:r>
            <a:r>
              <a:rPr lang="en-US" altLang="ko-KR" sz="2800" dirty="0"/>
              <a:t>JS </a:t>
            </a:r>
            <a:r>
              <a:rPr lang="ko-KR" altLang="en-US" sz="2800" dirty="0"/>
              <a:t>등</a:t>
            </a:r>
            <a:endParaRPr lang="en-US" altLang="ko-KR" sz="2800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dirty="0"/>
              <a:t>데이터베이스 연동 </a:t>
            </a:r>
            <a:r>
              <a:rPr lang="en-US" altLang="ko-KR" sz="2800" dirty="0"/>
              <a:t>: </a:t>
            </a:r>
            <a:r>
              <a:rPr lang="en-US" altLang="ko-KR" sz="2800" b="1" dirty="0">
                <a:solidFill>
                  <a:schemeClr val="accent2"/>
                </a:solidFill>
              </a:rPr>
              <a:t>JDBC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자바 </a:t>
            </a:r>
            <a:r>
              <a:rPr lang="en-US" altLang="ko-KR" sz="2800" b="1" dirty="0"/>
              <a:t>DB</a:t>
            </a:r>
            <a:r>
              <a:rPr lang="en-US" altLang="ko-KR" sz="2800" dirty="0"/>
              <a:t>) , </a:t>
            </a:r>
            <a:r>
              <a:rPr lang="en-US" altLang="ko-KR" sz="2800" dirty="0" err="1"/>
              <a:t>MyBatis</a:t>
            </a:r>
            <a:r>
              <a:rPr lang="en-US" altLang="ko-KR" sz="2800" dirty="0"/>
              <a:t>, JPA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800" dirty="0"/>
              <a:t>DBMS : </a:t>
            </a:r>
            <a:r>
              <a:rPr lang="en-US" altLang="ko-KR" sz="2800" b="1" dirty="0">
                <a:solidFill>
                  <a:schemeClr val="accent2"/>
                </a:solidFill>
              </a:rPr>
              <a:t>MySQL</a:t>
            </a:r>
            <a:r>
              <a:rPr lang="en-US" altLang="ko-KR" sz="2800" b="1" dirty="0"/>
              <a:t>,</a:t>
            </a:r>
            <a:r>
              <a:rPr lang="ko-KR" altLang="en-US" sz="2800" dirty="0"/>
              <a:t> </a:t>
            </a:r>
            <a:r>
              <a:rPr lang="en-US" altLang="ko-KR" sz="2800" dirty="0"/>
              <a:t>MS SQL , </a:t>
            </a:r>
            <a:r>
              <a:rPr lang="ko-KR" altLang="en-US" sz="2800" b="1" dirty="0"/>
              <a:t>오라클</a:t>
            </a:r>
            <a:endParaRPr lang="en-US" altLang="ko-KR" sz="2800" b="1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800" dirty="0"/>
              <a:t>통신 프로토콜 </a:t>
            </a:r>
            <a:r>
              <a:rPr lang="en-US" altLang="ko-KR" sz="2800" dirty="0"/>
              <a:t>: </a:t>
            </a:r>
            <a:r>
              <a:rPr lang="en-US" altLang="ko-KR" sz="2800" b="1" dirty="0"/>
              <a:t>HTTP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800" dirty="0"/>
              <a:t>OS : </a:t>
            </a:r>
            <a:r>
              <a:rPr lang="ko-KR" altLang="en-US" sz="2800" dirty="0"/>
              <a:t>센트</a:t>
            </a:r>
            <a:r>
              <a:rPr lang="en-US" altLang="ko-KR" sz="2800" dirty="0"/>
              <a:t>OS, </a:t>
            </a:r>
            <a:r>
              <a:rPr lang="ko-KR" altLang="en-US" sz="2800" dirty="0"/>
              <a:t>윈도우 서버 </a:t>
            </a:r>
            <a:r>
              <a:rPr lang="en-US" altLang="ko-KR" sz="2800" dirty="0"/>
              <a:t>2012 </a:t>
            </a:r>
            <a:r>
              <a:rPr lang="ko-KR" altLang="en-US" sz="2800" dirty="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256484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6EFCA2-3F65-4E04-A8B6-0243703D3C21}"/>
              </a:ext>
            </a:extLst>
          </p:cNvPr>
          <p:cNvSpPr txBox="1"/>
          <p:nvPr/>
        </p:nvSpPr>
        <p:spPr>
          <a:xfrm>
            <a:off x="746618" y="1510613"/>
            <a:ext cx="114453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비선형</a:t>
            </a:r>
            <a:r>
              <a:rPr lang="en-US" altLang="ko-KR" sz="2800" dirty="0"/>
              <a:t>, </a:t>
            </a:r>
            <a:r>
              <a:rPr lang="ko-KR" altLang="en-US" sz="2800" dirty="0"/>
              <a:t> 순서가 없는</a:t>
            </a:r>
          </a:p>
          <a:p>
            <a:r>
              <a:rPr lang="en-US" altLang="ko-KR" sz="2800" dirty="0" err="1"/>
              <a:t>MarkUp</a:t>
            </a:r>
            <a:r>
              <a:rPr lang="en-US" altLang="ko-KR" sz="2800" dirty="0"/>
              <a:t> Language : &lt;tag&gt; </a:t>
            </a:r>
            <a:r>
              <a:rPr lang="ko-KR" altLang="en-US" sz="2800" dirty="0"/>
              <a:t>로 구성된 언어</a:t>
            </a:r>
            <a:endParaRPr lang="en-US" altLang="ko-KR" sz="2800" dirty="0"/>
          </a:p>
          <a:p>
            <a:endParaRPr lang="en-US" altLang="ko-KR" sz="2800" dirty="0"/>
          </a:p>
          <a:p>
            <a:endParaRPr lang="en-US" altLang="ko-KR" sz="2800" dirty="0"/>
          </a:p>
          <a:p>
            <a:endParaRPr lang="en-US" altLang="ko-KR" sz="2800" dirty="0"/>
          </a:p>
          <a:p>
            <a:endParaRPr lang="ko-KR" altLang="en-US" sz="2800" dirty="0"/>
          </a:p>
          <a:p>
            <a:endParaRPr lang="en-US" altLang="ko-KR" sz="2400" dirty="0"/>
          </a:p>
          <a:p>
            <a:r>
              <a:rPr lang="en-US" altLang="ko-KR" sz="2400" dirty="0" err="1"/>
              <a:t>xHTML</a:t>
            </a:r>
            <a:r>
              <a:rPr lang="ko-KR" altLang="en-US" sz="2400" dirty="0"/>
              <a:t>까지는 동영상 재생을 지원하지 않아 플래쉬 플러그인을 통해 제공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HTML5</a:t>
            </a:r>
            <a:r>
              <a:rPr lang="ko-KR" altLang="en-US" sz="2400" dirty="0"/>
              <a:t>는 </a:t>
            </a:r>
            <a:r>
              <a:rPr lang="en-US" altLang="ko-KR" sz="2400" b="1" dirty="0">
                <a:solidFill>
                  <a:schemeClr val="accent2"/>
                </a:solidFill>
              </a:rPr>
              <a:t>&lt;video&gt;</a:t>
            </a:r>
            <a:r>
              <a:rPr lang="ko-KR" altLang="en-US" sz="2400" b="1" dirty="0">
                <a:solidFill>
                  <a:schemeClr val="accent2"/>
                </a:solidFill>
              </a:rPr>
              <a:t>태그</a:t>
            </a:r>
            <a:r>
              <a:rPr lang="ko-KR" altLang="en-US" sz="2400" dirty="0"/>
              <a:t>를 통해 스트리밍이 지원되고 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</p:txBody>
      </p:sp>
      <p:sp>
        <p:nvSpPr>
          <p:cNvPr id="3" name="구름 2">
            <a:extLst>
              <a:ext uri="{FF2B5EF4-FFF2-40B4-BE49-F238E27FC236}">
                <a16:creationId xmlns:a16="http://schemas.microsoft.com/office/drawing/2014/main" id="{129402A2-1392-494D-9528-4D051D128A97}"/>
              </a:ext>
            </a:extLst>
          </p:cNvPr>
          <p:cNvSpPr/>
          <p:nvPr/>
        </p:nvSpPr>
        <p:spPr>
          <a:xfrm>
            <a:off x="746618" y="2724037"/>
            <a:ext cx="2664900" cy="1059397"/>
          </a:xfrm>
          <a:prstGeom prst="cloud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6" name="구름 5">
            <a:extLst>
              <a:ext uri="{FF2B5EF4-FFF2-40B4-BE49-F238E27FC236}">
                <a16:creationId xmlns:a16="http://schemas.microsoft.com/office/drawing/2014/main" id="{2CBF4808-090B-4CCF-97D5-BD47867D55A2}"/>
              </a:ext>
            </a:extLst>
          </p:cNvPr>
          <p:cNvSpPr/>
          <p:nvPr/>
        </p:nvSpPr>
        <p:spPr>
          <a:xfrm>
            <a:off x="4328020" y="2724038"/>
            <a:ext cx="2664900" cy="1059397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xHTML</a:t>
            </a:r>
            <a:endParaRPr lang="ko-KR" altLang="en-US" dirty="0"/>
          </a:p>
        </p:txBody>
      </p:sp>
      <p:sp>
        <p:nvSpPr>
          <p:cNvPr id="7" name="구름 6">
            <a:extLst>
              <a:ext uri="{FF2B5EF4-FFF2-40B4-BE49-F238E27FC236}">
                <a16:creationId xmlns:a16="http://schemas.microsoft.com/office/drawing/2014/main" id="{3340CB87-9578-481E-A703-F45B16C78F66}"/>
              </a:ext>
            </a:extLst>
          </p:cNvPr>
          <p:cNvSpPr/>
          <p:nvPr/>
        </p:nvSpPr>
        <p:spPr>
          <a:xfrm>
            <a:off x="7909422" y="2724036"/>
            <a:ext cx="2664900" cy="1059397"/>
          </a:xfrm>
          <a:prstGeom prst="cloud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HTML5</a:t>
            </a:r>
            <a:endParaRPr lang="ko-KR" altLang="en-US" dirty="0"/>
          </a:p>
        </p:txBody>
      </p:sp>
      <p:sp>
        <p:nvSpPr>
          <p:cNvPr id="8" name="화살표: 톱니 모양의 오른쪽 7">
            <a:extLst>
              <a:ext uri="{FF2B5EF4-FFF2-40B4-BE49-F238E27FC236}">
                <a16:creationId xmlns:a16="http://schemas.microsoft.com/office/drawing/2014/main" id="{CBB1155A-6B9A-4243-B5BD-16E7F4C14E9C}"/>
              </a:ext>
            </a:extLst>
          </p:cNvPr>
          <p:cNvSpPr/>
          <p:nvPr/>
        </p:nvSpPr>
        <p:spPr>
          <a:xfrm>
            <a:off x="3550288" y="2908595"/>
            <a:ext cx="673141" cy="583749"/>
          </a:xfrm>
          <a:prstGeom prst="notchedRight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톱니 모양의 오른쪽 8">
            <a:extLst>
              <a:ext uri="{FF2B5EF4-FFF2-40B4-BE49-F238E27FC236}">
                <a16:creationId xmlns:a16="http://schemas.microsoft.com/office/drawing/2014/main" id="{BFB1ACEB-3E99-417D-9DA9-5B542BB13B91}"/>
              </a:ext>
            </a:extLst>
          </p:cNvPr>
          <p:cNvSpPr/>
          <p:nvPr/>
        </p:nvSpPr>
        <p:spPr>
          <a:xfrm>
            <a:off x="7098558" y="2906210"/>
            <a:ext cx="673141" cy="583749"/>
          </a:xfrm>
          <a:prstGeom prst="notchedRight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CB1A8-90B7-4644-A03E-235F4CA49122}"/>
              </a:ext>
            </a:extLst>
          </p:cNvPr>
          <p:cNvSpPr txBox="1"/>
          <p:nvPr/>
        </p:nvSpPr>
        <p:spPr>
          <a:xfrm>
            <a:off x="746618" y="679508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HTML </a:t>
            </a:r>
          </a:p>
        </p:txBody>
      </p:sp>
    </p:spTree>
    <p:extLst>
      <p:ext uri="{BB962C8B-B14F-4D97-AF65-F5344CB8AC3E}">
        <p14:creationId xmlns:p14="http://schemas.microsoft.com/office/powerpoint/2010/main" val="405219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79508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HTML </a:t>
            </a:r>
            <a:r>
              <a:rPr lang="ko-KR" altLang="en-US" sz="3000" b="1" dirty="0"/>
              <a:t>구조</a:t>
            </a:r>
            <a:endParaRPr lang="en-US" altLang="ko-KR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BDBD-07B2-482D-8D78-70DC6C4099FB}"/>
              </a:ext>
            </a:extLst>
          </p:cNvPr>
          <p:cNvSpPr txBox="1"/>
          <p:nvPr/>
        </p:nvSpPr>
        <p:spPr>
          <a:xfrm>
            <a:off x="746618" y="14854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582783-3BE4-4414-A27C-416E43482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93" y="1349360"/>
            <a:ext cx="7323284" cy="514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8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4809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semantic tag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BDBD-07B2-482D-8D78-70DC6C4099FB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5C41-EB5F-4B5E-B855-075DBA953FEF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77D5A-A4A6-48BA-95A7-B75F2AED266B}"/>
              </a:ext>
            </a:extLst>
          </p:cNvPr>
          <p:cNvSpPr txBox="1"/>
          <p:nvPr/>
        </p:nvSpPr>
        <p:spPr>
          <a:xfrm>
            <a:off x="746618" y="1485446"/>
            <a:ext cx="1064563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tag</a:t>
            </a:r>
            <a:r>
              <a:rPr lang="ko-KR" altLang="en-US" sz="2800" dirty="0"/>
              <a:t>에 다른 의미를 지닌 태그들을 </a:t>
            </a:r>
            <a:r>
              <a:rPr lang="en-US" altLang="ko-KR" sz="2800" dirty="0"/>
              <a:t>semantic tag</a:t>
            </a:r>
            <a:r>
              <a:rPr lang="ko-KR" altLang="en-US" sz="2800" dirty="0"/>
              <a:t>라 한다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&lt;</a:t>
            </a:r>
            <a:r>
              <a:rPr lang="en-US" altLang="ko-KR" sz="2800" b="1" dirty="0">
                <a:solidFill>
                  <a:schemeClr val="accent2"/>
                </a:solidFill>
              </a:rPr>
              <a:t>h1~h6</a:t>
            </a:r>
            <a:r>
              <a:rPr lang="en-US" altLang="ko-KR" sz="2800" dirty="0"/>
              <a:t>&gt; tag </a:t>
            </a:r>
            <a:r>
              <a:rPr lang="ko-KR" altLang="en-US" sz="2800" dirty="0"/>
              <a:t>크기가 바뀌지만</a:t>
            </a:r>
            <a:r>
              <a:rPr lang="en-US" altLang="ko-KR" sz="2800" dirty="0"/>
              <a:t>,  </a:t>
            </a:r>
          </a:p>
          <a:p>
            <a:r>
              <a:rPr lang="ko-KR" altLang="en-US" sz="2800" dirty="0"/>
              <a:t>의미 및 용도는 웹에서 검색 시 </a:t>
            </a:r>
            <a:r>
              <a:rPr lang="en-US" altLang="ko-KR" sz="2800" dirty="0"/>
              <a:t>&lt;h&gt; </a:t>
            </a:r>
            <a:r>
              <a:rPr lang="ko-KR" altLang="en-US" sz="2800" dirty="0"/>
              <a:t>태그지정 된 </a:t>
            </a:r>
            <a:endParaRPr lang="en-US" altLang="ko-KR" sz="2800" dirty="0"/>
          </a:p>
          <a:p>
            <a:r>
              <a:rPr lang="ko-KR" altLang="en-US" sz="2800" dirty="0"/>
              <a:t>내용이 키워드 역할을 함</a:t>
            </a:r>
            <a:endParaRPr lang="en-US" altLang="ko-KR" sz="2800" dirty="0"/>
          </a:p>
          <a:p>
            <a:r>
              <a:rPr lang="ko-KR" altLang="en-US" sz="2800" dirty="0"/>
              <a:t>어떤 것의 카테고리 또는 키워드 </a:t>
            </a:r>
            <a:r>
              <a:rPr lang="ko-KR" altLang="en-US" sz="2800" dirty="0" err="1"/>
              <a:t>처럼</a:t>
            </a:r>
            <a:r>
              <a:rPr lang="ko-KR" altLang="en-US" sz="2800" dirty="0"/>
              <a:t> 대표적인 역할을 한다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&lt;</a:t>
            </a:r>
            <a:r>
              <a:rPr lang="en-US" altLang="ko-KR" sz="2800" b="1" dirty="0">
                <a:solidFill>
                  <a:schemeClr val="accent2"/>
                </a:solidFill>
              </a:rPr>
              <a:t>strong</a:t>
            </a:r>
            <a:r>
              <a:rPr lang="en-US" altLang="ko-KR" sz="2800" dirty="0"/>
              <a:t>&gt; tag </a:t>
            </a:r>
            <a:r>
              <a:rPr lang="ko-KR" altLang="en-US" sz="2800" dirty="0"/>
              <a:t>볼드처리</a:t>
            </a:r>
            <a:endParaRPr lang="en-US" altLang="ko-KR" sz="2800" dirty="0"/>
          </a:p>
          <a:p>
            <a:r>
              <a:rPr lang="ko-KR" altLang="en-US" sz="2800" dirty="0"/>
              <a:t>의미 및 용도는 중요 내용이라는 것을 명시하는 용도 </a:t>
            </a:r>
            <a:endParaRPr lang="en-US" altLang="ko-KR" sz="28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479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4809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Selector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BDBD-07B2-482D-8D78-70DC6C4099FB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5C41-EB5F-4B5E-B855-075DBA953FEF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77D5A-A4A6-48BA-95A7-B75F2AED266B}"/>
              </a:ext>
            </a:extLst>
          </p:cNvPr>
          <p:cNvSpPr txBox="1"/>
          <p:nvPr/>
        </p:nvSpPr>
        <p:spPr>
          <a:xfrm>
            <a:off x="746618" y="1485446"/>
            <a:ext cx="10645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/>
              </a:rPr>
              <a:t>CSS</a:t>
            </a:r>
            <a:r>
              <a:rPr lang="ko-KR" altLang="en-US" sz="2800" b="1" dirty="0"/>
              <a:t>에서도 사용됨</a:t>
            </a:r>
            <a:endParaRPr lang="en-US" altLang="ko-KR" sz="2800" dirty="0"/>
          </a:p>
          <a:p>
            <a:r>
              <a:rPr lang="en-US" altLang="ko-KR" sz="2800" dirty="0"/>
              <a:t>Selector </a:t>
            </a:r>
          </a:p>
          <a:p>
            <a:r>
              <a:rPr lang="en-US" altLang="ko-KR" sz="2800" dirty="0" err="1"/>
              <a:t>ol.some</a:t>
            </a:r>
            <a:r>
              <a:rPr lang="en-US" altLang="ko-KR" sz="2800" dirty="0"/>
              <a:t> </a:t>
            </a:r>
          </a:p>
          <a:p>
            <a:r>
              <a:rPr lang="ko-KR" altLang="en-US" sz="2800" b="1" dirty="0">
                <a:effectLst/>
              </a:rPr>
              <a:t>태그선택자 </a:t>
            </a:r>
            <a:r>
              <a:rPr lang="en-US" altLang="ko-KR" sz="2800" b="1" dirty="0" err="1">
                <a:effectLst/>
              </a:rPr>
              <a:t>ol</a:t>
            </a:r>
            <a:r>
              <a:rPr lang="en-US" altLang="ko-KR" sz="2800" b="1" dirty="0">
                <a:effectLst/>
              </a:rPr>
              <a:t> </a:t>
            </a:r>
            <a:r>
              <a:rPr lang="ko-KR" altLang="en-US" sz="2800" b="1" dirty="0">
                <a:effectLst/>
              </a:rPr>
              <a:t>클래스선택자 </a:t>
            </a:r>
            <a:r>
              <a:rPr lang="en-US" altLang="ko-KR" sz="2800" b="1" dirty="0">
                <a:effectLst/>
              </a:rPr>
              <a:t>.some </a:t>
            </a:r>
            <a:r>
              <a:rPr lang="ko-KR" altLang="en-US" sz="2800" b="1" dirty="0">
                <a:effectLst/>
              </a:rPr>
              <a:t>아이디선택자 </a:t>
            </a:r>
            <a:r>
              <a:rPr lang="en-US" altLang="ko-KR" sz="2800" b="1" dirty="0">
                <a:effectLst/>
              </a:rPr>
              <a:t>#other</a:t>
            </a:r>
          </a:p>
          <a:p>
            <a:r>
              <a:rPr lang="en-US" altLang="ko-KR" sz="2800" b="1" dirty="0">
                <a:effectLst/>
              </a:rPr>
              <a:t>  </a:t>
            </a:r>
          </a:p>
          <a:p>
            <a:r>
              <a:rPr lang="en-US" altLang="ko-KR" sz="2800" dirty="0" err="1"/>
              <a:t>ol</a:t>
            </a:r>
            <a:r>
              <a:rPr lang="en-US" altLang="ko-KR" sz="2800" dirty="0"/>
              <a:t> : </a:t>
            </a:r>
            <a:r>
              <a:rPr lang="ko-KR" altLang="en-US" sz="2800" dirty="0"/>
              <a:t>태그이름 </a:t>
            </a:r>
            <a:r>
              <a:rPr lang="en-US" altLang="ko-KR" sz="2800" dirty="0" err="1"/>
              <a:t>ol</a:t>
            </a:r>
            <a:r>
              <a:rPr lang="en-US" altLang="ko-KR" sz="2800" dirty="0"/>
              <a:t> </a:t>
            </a:r>
          </a:p>
          <a:p>
            <a:r>
              <a:rPr lang="en-US" altLang="ko-KR" sz="2800" dirty="0"/>
              <a:t>.some : </a:t>
            </a:r>
            <a:r>
              <a:rPr lang="ko-KR" altLang="en-US" sz="2800" dirty="0"/>
              <a:t>속성</a:t>
            </a:r>
            <a:r>
              <a:rPr lang="en-US" altLang="ko-KR" sz="2800" dirty="0"/>
              <a:t>(class)</a:t>
            </a:r>
            <a:r>
              <a:rPr lang="ko-KR" altLang="en-US" sz="2800" dirty="0"/>
              <a:t>이 </a:t>
            </a:r>
            <a:r>
              <a:rPr lang="en-US" altLang="ko-KR" sz="2800" dirty="0"/>
              <a:t>some </a:t>
            </a:r>
          </a:p>
          <a:p>
            <a:r>
              <a:rPr lang="en-US" altLang="ko-KR" sz="2800" dirty="0"/>
              <a:t># other : </a:t>
            </a:r>
            <a:r>
              <a:rPr lang="ko-KR" altLang="en-US" sz="2800" dirty="0"/>
              <a:t>속성</a:t>
            </a:r>
            <a:r>
              <a:rPr lang="en-US" altLang="ko-KR" sz="2800" dirty="0"/>
              <a:t>(id)</a:t>
            </a:r>
            <a:r>
              <a:rPr lang="ko-KR" altLang="en-US" sz="2800" dirty="0"/>
              <a:t>이 </a:t>
            </a:r>
            <a:r>
              <a:rPr lang="en-US" altLang="ko-KR" sz="2800" dirty="0"/>
              <a:t>other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216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4809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BDBD-07B2-482D-8D78-70DC6C4099FB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5C41-EB5F-4B5E-B855-075DBA953FEF}"/>
              </a:ext>
            </a:extLst>
          </p:cNvPr>
          <p:cNvSpPr txBox="1"/>
          <p:nvPr/>
        </p:nvSpPr>
        <p:spPr>
          <a:xfrm>
            <a:off x="942362" y="3611913"/>
            <a:ext cx="97731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r>
              <a:rPr lang="en-US" altLang="ko-KR" dirty="0"/>
              <a:t>HTML</a:t>
            </a:r>
            <a:r>
              <a:rPr lang="ko-KR" altLang="en-US" dirty="0"/>
              <a:t>은 문서의 구조를 만들 때 사용하고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디자인에 관련된 작업들은 </a:t>
            </a:r>
            <a:r>
              <a:rPr lang="en-US" altLang="ko-KR" dirty="0"/>
              <a:t>CSS</a:t>
            </a:r>
            <a:r>
              <a:rPr lang="ko-KR" altLang="en-US" dirty="0"/>
              <a:t>를 통해 처리하게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 개의 </a:t>
            </a:r>
            <a:r>
              <a:rPr lang="en-US" altLang="ko-KR" dirty="0"/>
              <a:t>HTML</a:t>
            </a:r>
            <a:r>
              <a:rPr lang="ko-KR" altLang="en-US" dirty="0"/>
              <a:t>문서가 있을 때 </a:t>
            </a:r>
            <a:r>
              <a:rPr lang="en-US" altLang="ko-KR" dirty="0"/>
              <a:t>CSS</a:t>
            </a:r>
            <a:r>
              <a:rPr lang="ko-KR" altLang="en-US" dirty="0"/>
              <a:t>는  변수나 클래스 처럼 스타일 재사용이 되기 때문</a:t>
            </a:r>
            <a:r>
              <a:rPr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2C5E2F-1AC8-4323-BA5B-AFDA1567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62" y="1675745"/>
            <a:ext cx="6172200" cy="18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6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4809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Anchor  &lt;a&gt;~&lt;/a&gt; tag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BDBD-07B2-482D-8D78-70DC6C4099FB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5C41-EB5F-4B5E-B855-075DBA953FEF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77D5A-A4A6-48BA-95A7-B75F2AED266B}"/>
              </a:ext>
            </a:extLst>
          </p:cNvPr>
          <p:cNvSpPr txBox="1"/>
          <p:nvPr/>
        </p:nvSpPr>
        <p:spPr>
          <a:xfrm>
            <a:off x="708518" y="1472746"/>
            <a:ext cx="1064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A530F-278D-4133-9B20-384FAEC81228}"/>
              </a:ext>
            </a:extLst>
          </p:cNvPr>
          <p:cNvSpPr txBox="1"/>
          <p:nvPr/>
        </p:nvSpPr>
        <p:spPr>
          <a:xfrm>
            <a:off x="746618" y="1485446"/>
            <a:ext cx="106456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Hypertext</a:t>
            </a:r>
            <a:r>
              <a:rPr lang="ko-KR" altLang="en-US" sz="2800" dirty="0"/>
              <a:t>가 되기 위한 기반을 앵커태그가 만들어 줌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사용 옵션</a:t>
            </a:r>
            <a:endParaRPr lang="en-US" altLang="ko-KR" sz="2800" dirty="0"/>
          </a:p>
          <a:p>
            <a:r>
              <a:rPr lang="en-US" altLang="ko-KR" sz="2800" dirty="0" err="1"/>
              <a:t>href</a:t>
            </a:r>
            <a:r>
              <a:rPr lang="en-US" altLang="ko-KR" sz="2800" dirty="0"/>
              <a:t>(Hyper Link Reference)  </a:t>
            </a:r>
            <a:r>
              <a:rPr lang="ko-KR" altLang="en-US" sz="2800" dirty="0"/>
              <a:t>연결할 문서의 위치</a:t>
            </a:r>
            <a:endParaRPr lang="en-US" altLang="ko-KR" sz="2800" dirty="0"/>
          </a:p>
          <a:p>
            <a:r>
              <a:rPr lang="en-US" altLang="ko-KR" sz="2800" dirty="0"/>
              <a:t>&lt;a </a:t>
            </a:r>
            <a:r>
              <a:rPr lang="en-US" altLang="ko-KR" sz="2800" dirty="0" err="1"/>
              <a:t>href</a:t>
            </a:r>
            <a:r>
              <a:rPr lang="en-US" altLang="ko-KR" sz="2800" dirty="0"/>
              <a:t>="http://naver.com"&gt; &lt;/a&gt;</a:t>
            </a:r>
          </a:p>
          <a:p>
            <a:r>
              <a:rPr lang="en-US" altLang="ko-KR" sz="2800" dirty="0"/>
              <a:t>&lt;a </a:t>
            </a:r>
            <a:r>
              <a:rPr lang="en-US" altLang="ko-KR" sz="2800" dirty="0" err="1"/>
              <a:t>href</a:t>
            </a:r>
            <a:r>
              <a:rPr lang="en-US" altLang="ko-KR" sz="2800" dirty="0"/>
              <a:t>="http://naver.com" target="_blank"&gt; &lt;/a&gt; </a:t>
            </a:r>
          </a:p>
          <a:p>
            <a:r>
              <a:rPr lang="en-US" altLang="ko-KR" sz="2800" dirty="0"/>
              <a:t>"_self" </a:t>
            </a:r>
            <a:r>
              <a:rPr lang="ko-KR" altLang="en-US" sz="2800" dirty="0"/>
              <a:t>현재 창에서 연결</a:t>
            </a:r>
            <a:r>
              <a:rPr lang="en-US" altLang="ko-KR" sz="2800" dirty="0"/>
              <a:t>, "_blank" </a:t>
            </a:r>
            <a:r>
              <a:rPr lang="ko-KR" altLang="en-US" sz="2800" dirty="0"/>
              <a:t>새창에서 브라우저 연결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&lt;a </a:t>
            </a:r>
            <a:r>
              <a:rPr lang="en-US" altLang="ko-KR" sz="2800" dirty="0" err="1"/>
              <a:t>href</a:t>
            </a:r>
            <a:r>
              <a:rPr lang="en-US" altLang="ko-KR" sz="2800" dirty="0"/>
              <a:t>="#</a:t>
            </a:r>
            <a:r>
              <a:rPr lang="ko-KR" altLang="en-US" sz="2800" dirty="0"/>
              <a:t>이름</a:t>
            </a:r>
            <a:r>
              <a:rPr lang="en-US" altLang="ko-KR" sz="2800" dirty="0"/>
              <a:t>"&gt; &lt;/a&gt; </a:t>
            </a:r>
          </a:p>
          <a:p>
            <a:r>
              <a:rPr lang="ko-KR" altLang="en-US" sz="2800" dirty="0"/>
              <a:t>같은 페이지내  </a:t>
            </a:r>
            <a:r>
              <a:rPr lang="en-US" altLang="ko-KR" sz="2800" dirty="0"/>
              <a:t>"</a:t>
            </a:r>
            <a:r>
              <a:rPr lang="ko-KR" altLang="en-US" sz="2800" dirty="0"/>
              <a:t>이름</a:t>
            </a:r>
            <a:r>
              <a:rPr lang="en-US" altLang="ko-KR" sz="2800" dirty="0"/>
              <a:t>" </a:t>
            </a:r>
            <a:r>
              <a:rPr lang="ko-KR" altLang="en-US" sz="2800" dirty="0"/>
              <a:t>위치로 이동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439009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F243CA-1C94-4064-9E07-6D74696FA0E6}"/>
              </a:ext>
            </a:extLst>
          </p:cNvPr>
          <p:cNvSpPr txBox="1"/>
          <p:nvPr/>
        </p:nvSpPr>
        <p:spPr>
          <a:xfrm>
            <a:off x="746618" y="648099"/>
            <a:ext cx="8992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entity</a:t>
            </a:r>
            <a:r>
              <a:rPr lang="ko-KR" altLang="en-US" sz="3000" b="1" dirty="0"/>
              <a:t> </a:t>
            </a:r>
            <a:r>
              <a:rPr lang="en-US" altLang="ko-KR" sz="3000" b="1" dirty="0"/>
              <a:t>(</a:t>
            </a:r>
            <a:r>
              <a:rPr lang="ko-KR" altLang="en-US" sz="3000" b="1" dirty="0"/>
              <a:t>특수문자</a:t>
            </a:r>
            <a:r>
              <a:rPr lang="en-US" altLang="ko-KR" sz="3000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2BDBD-07B2-482D-8D78-70DC6C4099FB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5C41-EB5F-4B5E-B855-075DBA953FEF}"/>
              </a:ext>
            </a:extLst>
          </p:cNvPr>
          <p:cNvSpPr txBox="1"/>
          <p:nvPr/>
        </p:nvSpPr>
        <p:spPr>
          <a:xfrm>
            <a:off x="708518" y="1472746"/>
            <a:ext cx="97731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77D5A-A4A6-48BA-95A7-B75F2AED266B}"/>
              </a:ext>
            </a:extLst>
          </p:cNvPr>
          <p:cNvSpPr txBox="1"/>
          <p:nvPr/>
        </p:nvSpPr>
        <p:spPr>
          <a:xfrm>
            <a:off x="746618" y="1485446"/>
            <a:ext cx="10645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entity &lt;</a:t>
            </a:r>
            <a:r>
              <a:rPr lang="ko-KR" altLang="en-US" sz="2800" dirty="0"/>
              <a:t>특수문자</a:t>
            </a:r>
            <a:r>
              <a:rPr lang="en-US" altLang="ko-KR" sz="2800" dirty="0"/>
              <a:t>&gt; </a:t>
            </a:r>
            <a:r>
              <a:rPr lang="ko-KR" altLang="en-US" sz="2800" b="1" dirty="0">
                <a:solidFill>
                  <a:schemeClr val="accent2"/>
                </a:solidFill>
              </a:rPr>
              <a:t>모든 </a:t>
            </a:r>
            <a:r>
              <a:rPr lang="en-US" altLang="ko-KR" sz="2800" b="1" dirty="0">
                <a:solidFill>
                  <a:schemeClr val="accent2"/>
                </a:solidFill>
              </a:rPr>
              <a:t>ML</a:t>
            </a:r>
            <a:r>
              <a:rPr lang="ko-KR" altLang="en-US" sz="2800" b="1" dirty="0">
                <a:solidFill>
                  <a:schemeClr val="accent2"/>
                </a:solidFill>
              </a:rPr>
              <a:t>에서 동일함</a:t>
            </a:r>
            <a:endParaRPr lang="en-US" altLang="ko-KR" sz="2800" b="1" dirty="0">
              <a:solidFill>
                <a:schemeClr val="accent2"/>
              </a:solidFill>
            </a:endParaRPr>
          </a:p>
          <a:p>
            <a:r>
              <a:rPr lang="ko-KR" altLang="en-US" sz="2800" dirty="0"/>
              <a:t> </a:t>
            </a:r>
            <a:endParaRPr lang="en-US" altLang="ko-KR" sz="2800" dirty="0"/>
          </a:p>
          <a:p>
            <a:r>
              <a:rPr lang="en-US" altLang="ko-KR" sz="2800" dirty="0"/>
              <a:t>&amp;</a:t>
            </a:r>
            <a:r>
              <a:rPr lang="en-US" altLang="ko-KR" sz="2800" dirty="0" err="1"/>
              <a:t>lt</a:t>
            </a:r>
            <a:r>
              <a:rPr lang="en-US" altLang="ko-KR" sz="2800" dirty="0"/>
              <a:t>; &lt; </a:t>
            </a:r>
            <a:r>
              <a:rPr lang="ko-KR" altLang="en-US" sz="2800" dirty="0"/>
              <a:t>왼쪽</a:t>
            </a:r>
            <a:r>
              <a:rPr lang="en-US" altLang="ko-KR" sz="2800" dirty="0"/>
              <a:t>   </a:t>
            </a:r>
            <a:r>
              <a:rPr lang="ko-KR" altLang="en-US" sz="2800" dirty="0"/>
              <a:t>오른쪽</a:t>
            </a:r>
            <a:r>
              <a:rPr lang="en-US" altLang="ko-KR" sz="2800" dirty="0"/>
              <a:t>   &gt;  &amp;</a:t>
            </a:r>
            <a:r>
              <a:rPr lang="en-US" altLang="ko-KR" sz="2800" dirty="0" err="1"/>
              <a:t>gt</a:t>
            </a:r>
            <a:r>
              <a:rPr lang="en-US" altLang="ko-KR" sz="2800" dirty="0"/>
              <a:t>; </a:t>
            </a:r>
          </a:p>
          <a:p>
            <a:endParaRPr lang="en-US" altLang="ko-KR" sz="2800" dirty="0"/>
          </a:p>
          <a:p>
            <a:r>
              <a:rPr lang="en-US" altLang="ko-KR" sz="2800" dirty="0"/>
              <a:t>&amp;</a:t>
            </a:r>
            <a:r>
              <a:rPr lang="en-US" altLang="ko-KR" sz="2800" dirty="0" err="1"/>
              <a:t>nbsp</a:t>
            </a:r>
            <a:r>
              <a:rPr lang="en-US" altLang="ko-KR" sz="2800" dirty="0"/>
              <a:t>; =  </a:t>
            </a:r>
            <a:r>
              <a:rPr lang="ko-KR" altLang="en-US" sz="2800" dirty="0"/>
              <a:t>공백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&amp;amp; =  &amp;</a:t>
            </a:r>
          </a:p>
          <a:p>
            <a:endParaRPr lang="en-US" altLang="ko-KR" sz="2800" dirty="0"/>
          </a:p>
          <a:p>
            <a:r>
              <a:rPr lang="en-US" altLang="ko-KR" sz="2800" dirty="0"/>
              <a:t>&amp;</a:t>
            </a:r>
            <a:r>
              <a:rPr lang="en-US" altLang="ko-KR" sz="2800" dirty="0" err="1"/>
              <a:t>quot</a:t>
            </a:r>
            <a:r>
              <a:rPr lang="en-US" altLang="ko-KR" sz="2800" dirty="0"/>
              <a:t>;  = "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4911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439</Words>
  <Application>Microsoft Office PowerPoint</Application>
  <PresentationFormat>와이드스크린</PresentationFormat>
  <Paragraphs>97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DB</dc:creator>
  <cp:lastModifiedBy>DB</cp:lastModifiedBy>
  <cp:revision>106</cp:revision>
  <dcterms:created xsi:type="dcterms:W3CDTF">2025-11-03T12:42:48Z</dcterms:created>
  <dcterms:modified xsi:type="dcterms:W3CDTF">2025-12-01T14:38:55Z</dcterms:modified>
</cp:coreProperties>
</file>