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6"/>
  </p:notesMasterIdLst>
  <p:sldIdLst>
    <p:sldId id="256" r:id="rId2"/>
    <p:sldId id="257" r:id="rId3"/>
    <p:sldId id="258" r:id="rId4"/>
    <p:sldId id="261" r:id="rId5"/>
    <p:sldId id="263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59" r:id="rId25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2C2"/>
    <a:srgbClr val="041863"/>
    <a:srgbClr val="031B5C"/>
    <a:srgbClr val="010E2E"/>
    <a:srgbClr val="FFFFC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9" autoAdjust="0"/>
    <p:restoredTop sz="90141" autoAdjust="0"/>
  </p:normalViewPr>
  <p:slideViewPr>
    <p:cSldViewPr snapToGrid="0">
      <p:cViewPr varScale="1">
        <p:scale>
          <a:sx n="100" d="100"/>
          <a:sy n="100" d="100"/>
        </p:scale>
        <p:origin x="11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20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8" rIns="94855" bIns="4742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8" rIns="94855" bIns="47428" rtlCol="0"/>
          <a:lstStyle>
            <a:lvl1pPr algn="r">
              <a:defRPr sz="1300"/>
            </a:lvl1pPr>
          </a:lstStyle>
          <a:p>
            <a:fld id="{A2248930-7C21-47B2-B1C7-74D3C8DDBF19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8" rIns="94855" bIns="4742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0"/>
          </a:xfrm>
          <a:prstGeom prst="rect">
            <a:avLst/>
          </a:prstGeom>
        </p:spPr>
        <p:txBody>
          <a:bodyPr vert="horz" lIns="94855" tIns="47428" rIns="94855" bIns="4742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8" rIns="94855" bIns="4742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8" rIns="94855" bIns="47428" rtlCol="0" anchor="b"/>
          <a:lstStyle>
            <a:lvl1pPr algn="r">
              <a:defRPr sz="1300"/>
            </a:lvl1pPr>
          </a:lstStyle>
          <a:p>
            <a:fld id="{23E308A2-CD0F-43C7-B5B5-687700DCEE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997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61EB4C3-3E3A-1F45-462E-EEAB3CB7483A}"/>
              </a:ext>
            </a:extLst>
          </p:cNvPr>
          <p:cNvSpPr txBox="1">
            <a:spLocks/>
          </p:cNvSpPr>
          <p:nvPr userDrawn="1"/>
        </p:nvSpPr>
        <p:spPr>
          <a:xfrm>
            <a:off x="11831325" y="6454045"/>
            <a:ext cx="360675" cy="34624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algn="ctr">
              <a:defRPr sz="900" kern="0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/>
                <a:ea typeface="Tahoma" pitchFamily="34"/>
                <a:cs typeface="Tahoma" pitchFamily="34"/>
              </a:defRPr>
            </a:lvl1pPr>
          </a:lstStyle>
          <a:p>
            <a:pPr algn="r"/>
            <a:fld id="{0AB22326-1FB7-49E0-BDC6-F9C17B1D9168}" type="slidenum">
              <a:rPr lang="ko-KR" altLang="en-US" sz="22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pPr algn="r"/>
              <a:t>‹#›</a:t>
            </a:fld>
            <a:endParaRPr lang="ko-KR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0905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8643116-E5C4-0AA2-012D-E1CEF1AB1958}"/>
              </a:ext>
            </a:extLst>
          </p:cNvPr>
          <p:cNvSpPr txBox="1">
            <a:spLocks/>
          </p:cNvSpPr>
          <p:nvPr userDrawn="1"/>
        </p:nvSpPr>
        <p:spPr>
          <a:xfrm>
            <a:off x="11831325" y="6454045"/>
            <a:ext cx="360675" cy="34624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algn="ctr">
              <a:defRPr sz="900" kern="0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/>
                <a:ea typeface="Tahoma" pitchFamily="34"/>
                <a:cs typeface="Tahoma" pitchFamily="34"/>
              </a:defRPr>
            </a:lvl1pPr>
          </a:lstStyle>
          <a:p>
            <a:pPr algn="r"/>
            <a:fld id="{0AB22326-1FB7-49E0-BDC6-F9C17B1D9168}" type="slidenum">
              <a:rPr lang="ko-KR" altLang="en-US" sz="22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pPr algn="r"/>
              <a:t>‹#›</a:t>
            </a:fld>
            <a:endParaRPr lang="ko-KR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04877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54273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469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08858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735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88455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99735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78595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69197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031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000" y="1007910"/>
            <a:ext cx="12000000" cy="5760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C60403-8956-4E3C-B431-824C9D24CFFF}"/>
              </a:ext>
            </a:extLst>
          </p:cNvPr>
          <p:cNvSpPr txBox="1">
            <a:spLocks/>
          </p:cNvSpPr>
          <p:nvPr userDrawn="1"/>
        </p:nvSpPr>
        <p:spPr>
          <a:xfrm>
            <a:off x="11831325" y="6454045"/>
            <a:ext cx="360675" cy="34624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algn="ctr">
              <a:defRPr sz="900" kern="0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/>
                <a:ea typeface="Tahoma" pitchFamily="34"/>
                <a:cs typeface="Tahoma" pitchFamily="34"/>
              </a:defRPr>
            </a:lvl1pPr>
          </a:lstStyle>
          <a:p>
            <a:pPr algn="r"/>
            <a:fld id="{0AB22326-1FB7-49E0-BDC6-F9C17B1D9168}" type="slidenum">
              <a:rPr lang="ko-KR" altLang="en-US" sz="22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pPr algn="r"/>
              <a:t>‹#›</a:t>
            </a:fld>
            <a:endParaRPr lang="ko-KR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3816C4-22E1-45B6-B5E4-9EE12494B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" y="47507"/>
            <a:ext cx="12024000" cy="89535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102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000" y="57708"/>
            <a:ext cx="12000000" cy="67102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C60403-8956-4E3C-B431-824C9D24CFFF}"/>
              </a:ext>
            </a:extLst>
          </p:cNvPr>
          <p:cNvSpPr txBox="1">
            <a:spLocks/>
          </p:cNvSpPr>
          <p:nvPr userDrawn="1"/>
        </p:nvSpPr>
        <p:spPr>
          <a:xfrm>
            <a:off x="11831325" y="6454045"/>
            <a:ext cx="360675" cy="34624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algn="ctr">
              <a:defRPr sz="900" kern="0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/>
                <a:ea typeface="Tahoma" pitchFamily="34"/>
                <a:cs typeface="Tahoma" pitchFamily="34"/>
              </a:defRPr>
            </a:lvl1pPr>
          </a:lstStyle>
          <a:p>
            <a:pPr algn="r"/>
            <a:fld id="{0AB22326-1FB7-49E0-BDC6-F9C17B1D9168}" type="slidenum">
              <a:rPr lang="ko-KR" altLang="en-US" sz="22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pPr algn="r"/>
              <a:t>‹#›</a:t>
            </a:fld>
            <a:endParaRPr lang="ko-KR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226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7D3DE251-0E35-4F34-9B80-6F735AE7DB48}"/>
              </a:ext>
            </a:extLst>
          </p:cNvPr>
          <p:cNvSpPr txBox="1">
            <a:spLocks/>
          </p:cNvSpPr>
          <p:nvPr userDrawn="1"/>
        </p:nvSpPr>
        <p:spPr>
          <a:xfrm>
            <a:off x="11831325" y="6454045"/>
            <a:ext cx="360675" cy="34624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algn="ctr">
              <a:defRPr sz="900" kern="0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/>
                <a:ea typeface="Tahoma" pitchFamily="34"/>
                <a:cs typeface="Tahoma" pitchFamily="34"/>
              </a:defRPr>
            </a:lvl1pPr>
          </a:lstStyle>
          <a:p>
            <a:pPr algn="r"/>
            <a:fld id="{0AB22326-1FB7-49E0-BDC6-F9C17B1D9168}" type="slidenum">
              <a:rPr lang="ko-KR" altLang="en-US" sz="22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pPr algn="r"/>
              <a:t>‹#›</a:t>
            </a:fld>
            <a:endParaRPr lang="ko-KR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24988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백지(페이지번호없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91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11B98-A315-454E-B0B0-996DFCF3D81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7DF9A-7CFA-4ECB-AD7E-4D0113D1DC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32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72" r:id="rId12"/>
    <p:sldLayoutId id="2147483677" r:id="rId13"/>
    <p:sldLayoutId id="2147483674" r:id="rId14"/>
    <p:sldLayoutId id="2147483676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ybatis.org/mybatis-3/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EB84F-CB1D-40E1-8302-0A013857D2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Java</a:t>
            </a:r>
            <a:r>
              <a:rPr lang="ko-KR" altLang="en-US" b="1" dirty="0"/>
              <a:t> 교육 발표자료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C75F72-01E6-4470-AD05-17662CCEC4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발표 날짜</a:t>
            </a:r>
            <a:r>
              <a:rPr lang="en-US" altLang="ko-KR" dirty="0"/>
              <a:t>: 2025.12.02 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 err="1"/>
              <a:t>고승혁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강사</a:t>
            </a:r>
            <a:r>
              <a:rPr lang="en-US" altLang="ko-KR" dirty="0"/>
              <a:t>: </a:t>
            </a:r>
            <a:r>
              <a:rPr lang="ko-KR" altLang="en-US" dirty="0" err="1"/>
              <a:t>윤종두</a:t>
            </a:r>
            <a:r>
              <a:rPr lang="ko-KR" altLang="en-US" dirty="0"/>
              <a:t> 강사</a:t>
            </a:r>
          </a:p>
        </p:txBody>
      </p:sp>
    </p:spTree>
    <p:extLst>
      <p:ext uri="{BB962C8B-B14F-4D97-AF65-F5344CB8AC3E}">
        <p14:creationId xmlns:p14="http://schemas.microsoft.com/office/powerpoint/2010/main" val="173520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2C89E17-DC62-369B-955B-9D8BF9FC0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목차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040AB63-1D59-9968-82D0-EF68631F2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</a:t>
            </a:r>
            <a:endParaRPr lang="en-US" altLang="ko-KR" dirty="0"/>
          </a:p>
          <a:p>
            <a:r>
              <a:rPr lang="en-US" altLang="ko-KR" dirty="0"/>
              <a:t>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6250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3473D3F-ED7D-550C-7CC9-7099AF05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웹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240ED71-2967-56CA-4C63-825F01EDC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웹</a:t>
            </a:r>
            <a:r>
              <a:rPr lang="en-US" altLang="ko-KR" b="1" dirty="0"/>
              <a:t>(Web)</a:t>
            </a:r>
          </a:p>
          <a:p>
            <a:pPr lvl="1"/>
            <a:r>
              <a:rPr lang="en-US" altLang="ko-KR" dirty="0"/>
              <a:t>World Wide Web </a:t>
            </a:r>
            <a:r>
              <a:rPr lang="ko-KR" altLang="en-US" dirty="0"/>
              <a:t>약자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>
                <a:effectLst/>
              </a:rPr>
              <a:t>인터넷 위에서 정보</a:t>
            </a:r>
            <a:r>
              <a:rPr lang="en-US" altLang="ko-KR" dirty="0">
                <a:effectLst/>
              </a:rPr>
              <a:t>(</a:t>
            </a:r>
            <a:r>
              <a:rPr lang="ko-KR" altLang="en-US" dirty="0">
                <a:effectLst/>
              </a:rPr>
              <a:t>문서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이미지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영상 등</a:t>
            </a:r>
            <a:r>
              <a:rPr lang="en-US" altLang="ko-KR" dirty="0">
                <a:effectLst/>
              </a:rPr>
              <a:t>)</a:t>
            </a:r>
            <a:r>
              <a:rPr lang="ko-KR" altLang="en-US" dirty="0">
                <a:effectLst/>
              </a:rPr>
              <a:t>를 주고받기 위해 만들어진 거대한 서비스 체계</a:t>
            </a:r>
            <a:r>
              <a:rPr lang="en-US" altLang="ko-KR" dirty="0">
                <a:effectLst/>
              </a:rPr>
              <a:t>.</a:t>
            </a:r>
          </a:p>
          <a:p>
            <a:pPr lvl="1"/>
            <a:r>
              <a:rPr lang="en-US" altLang="ko-KR" dirty="0" err="1"/>
              <a:t>Interent</a:t>
            </a:r>
            <a:r>
              <a:rPr lang="en-US" altLang="ko-KR" dirty="0"/>
              <a:t> Explorer, MS Edge, Chrome</a:t>
            </a:r>
            <a:r>
              <a:rPr lang="ko-KR" altLang="en-US" dirty="0"/>
              <a:t>도 모두 웹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FFEC1B-ECD7-9900-BA88-DF1DE1657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169" y="3086099"/>
            <a:ext cx="4703832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88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2734C1-F091-4C4A-4C9A-27D5326C2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600" b="1" dirty="0"/>
              <a:t>웹 개발을 위한 개발자가 알아야 하는 구성 요소</a:t>
            </a:r>
            <a:endParaRPr lang="en-US" altLang="ko-KR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개발 언어</a:t>
            </a:r>
            <a:r>
              <a:rPr lang="en-US" altLang="ko-KR" sz="1600" dirty="0"/>
              <a:t>: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웹</a:t>
            </a:r>
            <a:r>
              <a:rPr lang="en-US" altLang="ko-KR" sz="1600" dirty="0"/>
              <a:t>/</a:t>
            </a:r>
            <a:r>
              <a:rPr lang="ko-KR" altLang="en-US" sz="1600" dirty="0"/>
              <a:t>어플리케이션 서버</a:t>
            </a:r>
            <a:r>
              <a:rPr lang="en-US" altLang="ko-KR" sz="1600" dirty="0"/>
              <a:t>: HTTPD(</a:t>
            </a:r>
            <a:r>
              <a:rPr lang="ko-KR" altLang="en-US" sz="1600" dirty="0"/>
              <a:t>아파치 웹 서버</a:t>
            </a:r>
            <a:r>
              <a:rPr lang="en-US" altLang="ko-KR" sz="1600" dirty="0"/>
              <a:t>), NGINX, </a:t>
            </a:r>
            <a:r>
              <a:rPr lang="ko-KR" altLang="en-US" sz="1600" dirty="0" err="1"/>
              <a:t>톰캣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웹로직</a:t>
            </a:r>
            <a:r>
              <a:rPr lang="ko-KR" altLang="en-US" sz="1600" dirty="0"/>
              <a:t> 등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서버 웹 기술</a:t>
            </a:r>
            <a:r>
              <a:rPr lang="en-US" altLang="ko-KR" sz="1600" dirty="0"/>
              <a:t>: JSP(Java Sever Page), </a:t>
            </a:r>
            <a:r>
              <a:rPr lang="ko-KR" altLang="en-US" sz="1600" dirty="0" err="1"/>
              <a:t>서블릿</a:t>
            </a:r>
            <a:r>
              <a:rPr lang="en-US" altLang="ko-K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서버에서 연산하는 언어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Java</a:t>
            </a:r>
            <a:r>
              <a:rPr lang="ko-KR" altLang="en-US" sz="1600" dirty="0"/>
              <a:t>의 표준 웹 기술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서버 웹 기술을 위한 프레임워크</a:t>
            </a:r>
            <a:r>
              <a:rPr lang="en-US" altLang="ko-KR" sz="1600" dirty="0"/>
              <a:t>: </a:t>
            </a:r>
            <a:r>
              <a:rPr lang="ko-KR" altLang="en-US" sz="1600" dirty="0"/>
              <a:t>스프링 </a:t>
            </a:r>
            <a:r>
              <a:rPr lang="en-US" altLang="ko-KR" sz="1600" dirty="0"/>
              <a:t>MVC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Model View Controller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각</a:t>
            </a:r>
            <a:r>
              <a:rPr lang="en-US" altLang="ko-KR" sz="1600" dirty="0"/>
              <a:t> </a:t>
            </a:r>
            <a:r>
              <a:rPr lang="ko-KR" altLang="en-US" sz="1600" dirty="0"/>
              <a:t>역할에 맞게 계층을 구별함</a:t>
            </a:r>
            <a:r>
              <a:rPr lang="en-US" altLang="ko-K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MVC </a:t>
            </a:r>
            <a:r>
              <a:rPr lang="ko-KR" altLang="en-US" sz="1600" dirty="0"/>
              <a:t>구조에 맞게 구현해야 함</a:t>
            </a:r>
            <a:r>
              <a:rPr lang="en-US" altLang="ko-KR" sz="1600" dirty="0"/>
              <a:t>.</a:t>
            </a:r>
          </a:p>
          <a:p>
            <a:pPr marL="285750" indent="-285750"/>
            <a:r>
              <a:rPr lang="en-US" altLang="ko-KR" sz="1600" dirty="0"/>
              <a:t>MVC</a:t>
            </a:r>
          </a:p>
          <a:p>
            <a:pPr lvl="1"/>
            <a:r>
              <a:rPr lang="ko-KR" altLang="en-US" sz="1600" b="0" i="0" dirty="0">
                <a:solidFill>
                  <a:srgbClr val="000000"/>
                </a:solidFill>
                <a:effectLst/>
                <a:latin typeface="Inter"/>
              </a:rPr>
              <a:t>모델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Inter"/>
              </a:rPr>
              <a:t>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Inter"/>
              </a:rPr>
              <a:t>데이터와 비즈니스 로직을 관리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Inter"/>
              </a:rPr>
              <a:t>.</a:t>
            </a:r>
          </a:p>
          <a:p>
            <a:pPr lvl="1"/>
            <a:r>
              <a:rPr lang="ko-KR" altLang="en-US" sz="1600" b="0" i="0" dirty="0">
                <a:solidFill>
                  <a:srgbClr val="000000"/>
                </a:solidFill>
                <a:effectLst/>
                <a:latin typeface="Inter"/>
              </a:rPr>
              <a:t>뷰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Inter"/>
              </a:rPr>
              <a:t>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Inter"/>
              </a:rPr>
              <a:t>레이아웃과 화면을 처리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Inter"/>
              </a:rPr>
              <a:t>.</a:t>
            </a:r>
          </a:p>
          <a:p>
            <a:pPr lvl="1"/>
            <a:r>
              <a:rPr lang="ko-KR" altLang="en-US" sz="1600" b="0" i="0" dirty="0">
                <a:solidFill>
                  <a:srgbClr val="000000"/>
                </a:solidFill>
                <a:effectLst/>
                <a:latin typeface="Inter"/>
              </a:rPr>
              <a:t>컨트롤러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Inter"/>
              </a:rPr>
              <a:t>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Inter"/>
              </a:rPr>
              <a:t>모델과 뷰로 명령을 전달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Inter"/>
              </a:rPr>
              <a:t>.</a:t>
            </a:r>
          </a:p>
          <a:p>
            <a:pPr marL="285750" indent="-285750"/>
            <a:endParaRPr lang="en-US" altLang="ko-KR" dirty="0"/>
          </a:p>
          <a:p>
            <a:pPr marL="285750" indent="-285750"/>
            <a:endParaRPr lang="en-US" altLang="ko-KR" dirty="0"/>
          </a:p>
          <a:p>
            <a:pPr marL="285750" indent="-285750"/>
            <a:endParaRPr lang="en-US" altLang="ko-KR" dirty="0"/>
          </a:p>
          <a:p>
            <a:pPr marL="285750" indent="-285750"/>
            <a:endParaRPr lang="en-US" altLang="ko-KR" dirty="0"/>
          </a:p>
          <a:p>
            <a:pPr marL="285750" indent="-285750"/>
            <a:endParaRPr lang="en-US" altLang="ko-KR" dirty="0"/>
          </a:p>
          <a:p>
            <a:pPr marL="285750" indent="-285750"/>
            <a:endParaRPr lang="en-US" altLang="ko-KR" dirty="0"/>
          </a:p>
          <a:p>
            <a:pPr marL="285750" indent="-285750"/>
            <a:endParaRPr lang="en-US" altLang="ko-KR" dirty="0"/>
          </a:p>
          <a:p>
            <a:pPr marL="285750" indent="-285750"/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622D1A-5D7A-2CB6-0196-AA0CD7F19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885" y="2414378"/>
            <a:ext cx="691611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0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16A0-813A-3E0D-A1D2-FFB82798F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A6AF49-843D-892E-A1DA-4D0001493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클라이언트 웹 기술</a:t>
            </a:r>
            <a:r>
              <a:rPr lang="en-US" altLang="ko-KR" sz="1600" dirty="0"/>
              <a:t>: HTML, </a:t>
            </a:r>
            <a:r>
              <a:rPr lang="ko-KR" altLang="en-US" sz="1600" dirty="0"/>
              <a:t>자바 스크립트</a:t>
            </a:r>
            <a:r>
              <a:rPr lang="en-US" altLang="ko-K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클라이언트</a:t>
            </a:r>
            <a:r>
              <a:rPr lang="en-US" altLang="ko-KR" sz="1600" dirty="0"/>
              <a:t>, </a:t>
            </a:r>
            <a:r>
              <a:rPr lang="ko-KR" altLang="en-US" sz="1600" dirty="0"/>
              <a:t>브라우저에서 연산하는 언어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클라이언트 웹 기술을 위한 프레임워크나 라이브러리</a:t>
            </a:r>
            <a:r>
              <a:rPr lang="en-US" altLang="ko-KR" sz="1600" dirty="0"/>
              <a:t>: jQuery, </a:t>
            </a:r>
            <a:r>
              <a:rPr lang="ko-KR" altLang="en-US" sz="1600" dirty="0" err="1"/>
              <a:t>앵귤러</a:t>
            </a:r>
            <a:r>
              <a:rPr lang="en-US" altLang="ko-KR" sz="1600" dirty="0"/>
              <a:t>JS </a:t>
            </a:r>
            <a:r>
              <a:rPr lang="ko-KR" altLang="en-US" sz="1600" dirty="0"/>
              <a:t>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자바 스크립트 라이브러리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데이터베이스 연동</a:t>
            </a:r>
            <a:r>
              <a:rPr lang="en-US" altLang="ko-KR" sz="1600" dirty="0"/>
              <a:t>: JDBC, </a:t>
            </a:r>
            <a:r>
              <a:rPr lang="en-US" altLang="ko-KR" sz="1600" dirty="0" err="1"/>
              <a:t>MyBatis</a:t>
            </a:r>
            <a:r>
              <a:rPr lang="en-US" altLang="ko-KR" sz="1600" dirty="0"/>
              <a:t>, JPA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Java Database Connectivity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hlinkClick r:id="rId2"/>
              </a:rPr>
              <a:t>MyBatis</a:t>
            </a:r>
            <a:r>
              <a:rPr lang="en-US" altLang="ko-KR" sz="1600" dirty="0">
                <a:hlinkClick r:id="rId2"/>
              </a:rPr>
              <a:t> 3 | Introduction – </a:t>
            </a:r>
            <a:r>
              <a:rPr lang="en-US" altLang="ko-KR" sz="1600" dirty="0" err="1">
                <a:hlinkClick r:id="rId2"/>
              </a:rPr>
              <a:t>mybatis</a:t>
            </a:r>
            <a:endParaRPr lang="en-US" altLang="ko-K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DBMS: MySQL, MS SQL, </a:t>
            </a:r>
            <a:r>
              <a:rPr lang="ko-KR" altLang="en-US" sz="1600" dirty="0"/>
              <a:t>오라클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Database Management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통신 프로토콜</a:t>
            </a:r>
            <a:r>
              <a:rPr lang="en-US" altLang="ko-KR" sz="1600" dirty="0"/>
              <a:t>: HTTP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OS: </a:t>
            </a:r>
            <a:r>
              <a:rPr lang="ko-KR" altLang="en-US" sz="1600" dirty="0"/>
              <a:t>센트 </a:t>
            </a:r>
            <a:r>
              <a:rPr lang="en-US" altLang="ko-KR" sz="1600" dirty="0"/>
              <a:t>OS, </a:t>
            </a:r>
            <a:r>
              <a:rPr lang="ko-KR" altLang="en-US" sz="1600" dirty="0"/>
              <a:t>윈도우 서버 </a:t>
            </a:r>
            <a:r>
              <a:rPr lang="en-US" altLang="ko-KR" sz="1600" dirty="0"/>
              <a:t>2012 </a:t>
            </a:r>
            <a:r>
              <a:rPr lang="ko-KR" altLang="en-US" sz="1600" dirty="0"/>
              <a:t>등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358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4A00D-8804-20C5-351B-2EB1E5B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HTML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CB7E6B-CAD8-7740-913C-5710DD32F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err="1"/>
              <a:t>HyperText</a:t>
            </a:r>
            <a:r>
              <a:rPr lang="en-US" altLang="ko-KR" b="1" dirty="0"/>
              <a:t> Markup Language(HTML)</a:t>
            </a:r>
          </a:p>
          <a:p>
            <a:r>
              <a:rPr lang="ko-KR" altLang="en-US" dirty="0"/>
              <a:t>웹 표준 문서 양식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/>
              <a:t>HyperText</a:t>
            </a:r>
            <a:r>
              <a:rPr lang="en-US" altLang="ko-K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비선형 문서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/>
              <a:t>MarkUp</a:t>
            </a:r>
            <a:r>
              <a:rPr lang="en-US" altLang="ko-KR" dirty="0"/>
              <a:t> Language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태그로 구성된 언어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5807E-E554-3B7A-A3E5-D0F86F81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D8F8C5-C757-1273-CA15-2D3ED7303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825" y="2633662"/>
            <a:ext cx="667702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37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1774965-B68B-7A3F-8D1D-4AF3F47EA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 dirty="0"/>
              <a:t>HTML </a:t>
            </a:r>
            <a:r>
              <a:rPr lang="ko-KR" altLang="en-US" sz="2000" b="1" dirty="0"/>
              <a:t>파일 구조</a:t>
            </a:r>
            <a:endParaRPr lang="en-US" altLang="ko-KR" sz="2000" b="1" dirty="0"/>
          </a:p>
          <a:p>
            <a:r>
              <a:rPr lang="ko-KR" altLang="en-US" sz="2000" dirty="0"/>
              <a:t>크게 </a:t>
            </a:r>
            <a:r>
              <a:rPr lang="en-US" altLang="ko-KR" sz="2000" dirty="0"/>
              <a:t>&lt;head&gt;&lt;/head&gt;, &lt;body&gt;&lt;/body&gt;</a:t>
            </a:r>
            <a:r>
              <a:rPr lang="ko-KR" altLang="en-US" sz="2000" dirty="0"/>
              <a:t>구조 되어 있음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&lt;head&gt;&lt;/head&gt;, &lt;body&gt;&lt;/body&gt; </a:t>
            </a:r>
            <a:r>
              <a:rPr lang="ko-KR" altLang="en-US" sz="2000" dirty="0"/>
              <a:t>내부에 태그</a:t>
            </a:r>
            <a:r>
              <a:rPr lang="en-US" altLang="ko-KR" sz="2000" dirty="0"/>
              <a:t>(Tag)</a:t>
            </a:r>
            <a:r>
              <a:rPr lang="ko-KR" altLang="en-US" sz="2000" dirty="0"/>
              <a:t>를 작성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&lt;html&gt;~&lt;/html&gt; = Root</a:t>
            </a:r>
            <a:r>
              <a:rPr lang="ko-KR" altLang="en-US" sz="2000" dirty="0"/>
              <a:t> </a:t>
            </a:r>
            <a:r>
              <a:rPr lang="en-US" altLang="ko-KR" sz="2000" dirty="0"/>
              <a:t>Tag.</a:t>
            </a:r>
          </a:p>
          <a:p>
            <a:endParaRPr lang="en-US" altLang="ko-KR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9CA4E2-A55C-7B6B-A7B1-B5C8E8AFA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825" y="2633662"/>
            <a:ext cx="6677025" cy="39052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F4407C1-69DB-8AE9-1EF0-042D7FFC5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2237"/>
            <a:ext cx="45720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6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A74AAF1-1186-EC7F-6805-8B3C6A0CC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 dirty="0"/>
              <a:t>Tag </a:t>
            </a:r>
            <a:r>
              <a:rPr lang="ko-KR" altLang="en-US" sz="2000" b="1" dirty="0"/>
              <a:t>구조</a:t>
            </a:r>
            <a:r>
              <a:rPr lang="en-US" altLang="ko-KR" sz="2000" b="1" dirty="0"/>
              <a:t>.</a:t>
            </a:r>
          </a:p>
          <a:p>
            <a:r>
              <a:rPr lang="en-US" altLang="ko-KR" sz="2000" dirty="0"/>
              <a:t>&lt;</a:t>
            </a:r>
            <a:r>
              <a:rPr lang="ko-KR" altLang="en-US" sz="2000" dirty="0"/>
              <a:t>태그 이름 속성</a:t>
            </a:r>
            <a:r>
              <a:rPr lang="en-US" altLang="ko-KR" sz="2000" dirty="0"/>
              <a:t>1 = </a:t>
            </a:r>
            <a:r>
              <a:rPr lang="ko-KR" altLang="en-US" sz="2000" dirty="0"/>
              <a:t>값</a:t>
            </a:r>
            <a:r>
              <a:rPr lang="en-US" altLang="ko-KR" sz="2000" dirty="0"/>
              <a:t>1 </a:t>
            </a:r>
            <a:r>
              <a:rPr lang="ko-KR" altLang="en-US" sz="2000" dirty="0"/>
              <a:t>속성 </a:t>
            </a:r>
            <a:r>
              <a:rPr lang="en-US" altLang="ko-KR" sz="2000" dirty="0"/>
              <a:t>2 = </a:t>
            </a:r>
            <a:r>
              <a:rPr lang="ko-KR" altLang="en-US" sz="2000" dirty="0"/>
              <a:t>값</a:t>
            </a:r>
            <a:r>
              <a:rPr lang="en-US" altLang="ko-KR" sz="2000" dirty="0"/>
              <a:t>2&gt; </a:t>
            </a:r>
            <a:r>
              <a:rPr lang="ko-KR" altLang="en-US" sz="2000" dirty="0"/>
              <a:t>형식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이를 통해 해당 속성의 값을 정함</a:t>
            </a:r>
            <a:r>
              <a:rPr lang="en-US" altLang="ko-KR" sz="2000" dirty="0"/>
              <a:t>.</a:t>
            </a:r>
          </a:p>
          <a:p>
            <a:r>
              <a:rPr lang="ko-KR" altLang="en-US" sz="2000" b="1" dirty="0"/>
              <a:t>태그는 시작 태그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마감 태그가 존재</a:t>
            </a:r>
            <a:r>
              <a:rPr lang="en-US" altLang="ko-KR" sz="2000" b="1" dirty="0"/>
              <a:t>. </a:t>
            </a:r>
            <a:r>
              <a:rPr lang="en-US" altLang="ko-KR" sz="2000" dirty="0"/>
              <a:t>= </a:t>
            </a:r>
            <a:r>
              <a:rPr lang="ko-KR" altLang="en-US" sz="2000" dirty="0"/>
              <a:t>필수적으로 작성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119219-EC12-896E-62BA-EA84BB45C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825" y="2633662"/>
            <a:ext cx="667702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4DFD99-2869-A736-E450-4CA2FE4AA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b="1" dirty="0"/>
              <a:t>주석</a:t>
            </a:r>
            <a:endParaRPr lang="en-US" altLang="ko-KR" sz="2000" b="1" dirty="0"/>
          </a:p>
          <a:p>
            <a:pPr lvl="1"/>
            <a:r>
              <a:rPr lang="en-US" altLang="ko-KR" sz="2000" dirty="0"/>
              <a:t>&lt;!– </a:t>
            </a:r>
            <a:r>
              <a:rPr lang="ko-KR" altLang="en-US" sz="2000" dirty="0"/>
              <a:t>내용 </a:t>
            </a: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en-US" altLang="ko-KR" sz="2000" dirty="0"/>
              <a:t> </a:t>
            </a:r>
            <a:r>
              <a:rPr lang="ko-KR" altLang="en-US" sz="2000" dirty="0"/>
              <a:t>형식</a:t>
            </a:r>
            <a:r>
              <a:rPr lang="en-US" altLang="ko-KR" sz="2000" dirty="0"/>
              <a:t>.</a:t>
            </a:r>
          </a:p>
          <a:p>
            <a:r>
              <a:rPr lang="en-US" altLang="ko-KR" sz="2000" b="1" dirty="0"/>
              <a:t>HTML </a:t>
            </a:r>
            <a:r>
              <a:rPr lang="ko-KR" altLang="en-US" sz="2000" b="1" dirty="0"/>
              <a:t>파일 실행</a:t>
            </a:r>
            <a:endParaRPr lang="en-US" altLang="ko-KR" sz="2000" b="1" dirty="0"/>
          </a:p>
          <a:p>
            <a:pPr lvl="1"/>
            <a:r>
              <a:rPr lang="en-US" altLang="ko-KR" sz="2000" dirty="0"/>
              <a:t>ctrl + b</a:t>
            </a:r>
          </a:p>
          <a:p>
            <a:r>
              <a:rPr lang="en-US" altLang="ko-KR" sz="2000" dirty="0"/>
              <a:t>&lt;Title&gt; &lt;/Title&gt;</a:t>
            </a:r>
          </a:p>
          <a:p>
            <a:pPr lvl="1"/>
            <a:r>
              <a:rPr lang="ko-KR" altLang="en-US" sz="2000" dirty="0"/>
              <a:t>웹 페이지의 제목 내용을 설정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/>
              <a:t>head </a:t>
            </a:r>
            <a:r>
              <a:rPr lang="ko-KR" altLang="en-US" sz="2000" dirty="0"/>
              <a:t>태그 내부에서 설정</a:t>
            </a:r>
            <a:r>
              <a:rPr lang="en-US" altLang="ko-KR" sz="2000" dirty="0"/>
              <a:t>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7028E90-8A32-D179-9709-D6E849D9C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203" y="90089"/>
            <a:ext cx="5353797" cy="33913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A701ED8-26C7-3699-35A7-7BB3744D2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203" y="3929062"/>
            <a:ext cx="45720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11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631D3D5-979E-B3DB-F3E8-339FA5B52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&lt;</a:t>
            </a:r>
            <a:r>
              <a:rPr lang="en-US" altLang="ko-KR" sz="2000" b="1" dirty="0" err="1"/>
              <a:t>br</a:t>
            </a:r>
            <a:r>
              <a:rPr lang="en-US" altLang="ko-KR" sz="2000" b="1" dirty="0"/>
              <a:t>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/>
              <a:t>줄을 바꾸는</a:t>
            </a:r>
            <a:r>
              <a:rPr lang="en-US" altLang="ko-KR" sz="2400" dirty="0"/>
              <a:t>(break) </a:t>
            </a:r>
            <a:r>
              <a:rPr lang="ko-KR" altLang="en-US" sz="2400" dirty="0"/>
              <a:t>태그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/>
              <a:t>여러 번 줄 바꿈을 하려면 여러 번 기술</a:t>
            </a:r>
            <a:r>
              <a:rPr lang="en-US" altLang="ko-K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dirty="0"/>
              <a:t>Java</a:t>
            </a:r>
            <a:r>
              <a:rPr lang="ko-KR" altLang="en-US" sz="2400" dirty="0"/>
              <a:t>의 </a:t>
            </a:r>
            <a:r>
              <a:rPr lang="en-US" altLang="ko-KR" sz="2400" dirty="0"/>
              <a:t>\n</a:t>
            </a:r>
            <a:r>
              <a:rPr lang="ko-KR" altLang="en-US" sz="2400" dirty="0"/>
              <a:t>과 동일</a:t>
            </a:r>
            <a:r>
              <a:rPr lang="en-US" altLang="ko-KR" sz="24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b="1" dirty="0"/>
              <a:t>&lt;p&gt;</a:t>
            </a:r>
          </a:p>
          <a:p>
            <a:r>
              <a:rPr lang="ko-KR" altLang="en-US" sz="2400" dirty="0"/>
              <a:t>문단</a:t>
            </a:r>
            <a:r>
              <a:rPr lang="en-US" altLang="ko-KR" sz="2400" dirty="0"/>
              <a:t>(paragraph) </a:t>
            </a:r>
            <a:r>
              <a:rPr lang="ko-KR" altLang="en-US" sz="2400" dirty="0"/>
              <a:t>태그</a:t>
            </a:r>
            <a:endParaRPr lang="en-US" altLang="ko-KR" sz="2400" dirty="0"/>
          </a:p>
          <a:p>
            <a:r>
              <a:rPr lang="ko-KR" altLang="en-US" sz="2400" dirty="0"/>
              <a:t>다른 문단과 구분하는 공간을 </a:t>
            </a:r>
            <a:br>
              <a:rPr lang="en-US" altLang="ko-KR" sz="2400" dirty="0"/>
            </a:br>
            <a:r>
              <a:rPr lang="ko-KR" altLang="en-US" sz="2400" dirty="0"/>
              <a:t>생성</a:t>
            </a:r>
            <a:r>
              <a:rPr lang="en-US" altLang="ko-KR" sz="2400" dirty="0"/>
              <a:t>.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5100F8-07F7-E414-D897-C96938D22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73" y="3412809"/>
            <a:ext cx="3077004" cy="33151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FF36CD2-D82D-8151-1FBB-DCC80B900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617" y="130028"/>
            <a:ext cx="6388383" cy="592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88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26B4710-5FA5-4B94-1D12-ADE5BB0DE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 dirty="0">
                <a:ea typeface="프리젠테이션 7 Bold" pitchFamily="2" charset="-127"/>
              </a:rPr>
              <a:t>&lt;</a:t>
            </a:r>
            <a:r>
              <a:rPr lang="en-US" altLang="ko-KR" sz="2000" b="1" dirty="0" err="1">
                <a:ea typeface="프리젠테이션 7 Bold" pitchFamily="2" charset="-127"/>
              </a:rPr>
              <a:t>hn</a:t>
            </a:r>
            <a:r>
              <a:rPr lang="en-US" altLang="ko-KR" sz="2000" b="1" dirty="0">
                <a:ea typeface="프리젠테이션 7 Bold" pitchFamily="2" charset="-127"/>
              </a:rPr>
              <a:t>&gt;</a:t>
            </a:r>
          </a:p>
          <a:p>
            <a:pPr lvl="1"/>
            <a:r>
              <a:rPr lang="ko-KR" altLang="en-US" sz="1700" dirty="0">
                <a:ea typeface="프리젠테이션 7 Bold" pitchFamily="2" charset="-127"/>
              </a:rPr>
              <a:t>제목을 나타날 때 사용함</a:t>
            </a:r>
            <a:r>
              <a:rPr lang="en-US" altLang="ko-KR" sz="1700" dirty="0">
                <a:ea typeface="프리젠테이션 7 Bold" pitchFamily="2" charset="-127"/>
              </a:rPr>
              <a:t>.</a:t>
            </a:r>
          </a:p>
          <a:p>
            <a:pPr lvl="1"/>
            <a:r>
              <a:rPr lang="en-US" altLang="ko-KR" sz="1850" dirty="0">
                <a:ea typeface="프리젠테이션 7 Bold" pitchFamily="2" charset="-127"/>
              </a:rPr>
              <a:t>n</a:t>
            </a:r>
            <a:r>
              <a:rPr lang="ko-KR" altLang="en-US" sz="1850" dirty="0">
                <a:ea typeface="프리젠테이션 7 Bold" pitchFamily="2" charset="-127"/>
              </a:rPr>
              <a:t>에는 </a:t>
            </a:r>
            <a:r>
              <a:rPr lang="en-US" altLang="ko-KR" sz="1850" dirty="0">
                <a:ea typeface="프리젠테이션 7 Bold" pitchFamily="2" charset="-127"/>
              </a:rPr>
              <a:t>1 ~ 6</a:t>
            </a:r>
            <a:r>
              <a:rPr lang="ko-KR" altLang="en-US" sz="1850" dirty="0">
                <a:ea typeface="프리젠테이션 7 Bold" pitchFamily="2" charset="-127"/>
              </a:rPr>
              <a:t>까지 사용 할 수 있으며</a:t>
            </a:r>
            <a:r>
              <a:rPr lang="en-US" altLang="ko-KR" sz="1850" dirty="0">
                <a:ea typeface="프리젠테이션 7 Bold" pitchFamily="2" charset="-127"/>
              </a:rPr>
              <a:t>, 1</a:t>
            </a:r>
            <a:r>
              <a:rPr lang="ko-KR" altLang="en-US" sz="1850" dirty="0">
                <a:ea typeface="프리젠테이션 7 Bold" pitchFamily="2" charset="-127"/>
              </a:rPr>
              <a:t>이 가장 큰 사이즈</a:t>
            </a:r>
            <a:r>
              <a:rPr lang="en-US" altLang="ko-KR" sz="1850" dirty="0">
                <a:ea typeface="프리젠테이션 7 Bold" pitchFamily="2" charset="-127"/>
              </a:rPr>
              <a:t>.</a:t>
            </a:r>
          </a:p>
          <a:p>
            <a:pPr lvl="1"/>
            <a:r>
              <a:rPr lang="ko-KR" altLang="en-US" sz="1850" dirty="0">
                <a:ea typeface="프리젠테이션 7 Bold" pitchFamily="2" charset="-127"/>
              </a:rPr>
              <a:t>자동 줄 바꿈이 실행 됨</a:t>
            </a:r>
            <a:r>
              <a:rPr lang="en-US" altLang="ko-KR" sz="1850" dirty="0">
                <a:ea typeface="프리젠테이션 7 Bold" pitchFamily="2" charset="-127"/>
              </a:rPr>
              <a:t>.</a:t>
            </a:r>
          </a:p>
          <a:p>
            <a:pPr lvl="1"/>
            <a:r>
              <a:rPr lang="ko-KR" altLang="en-US" sz="1850" dirty="0">
                <a:ea typeface="프리젠테이션 7 Bold" pitchFamily="2" charset="-127"/>
              </a:rPr>
              <a:t>아래부분에 한 줄 정도 공간을 확보</a:t>
            </a:r>
            <a:r>
              <a:rPr lang="en-US" altLang="ko-KR" sz="1850" dirty="0">
                <a:ea typeface="프리젠테이션 7 Bold" pitchFamily="2" charset="-127"/>
              </a:rPr>
              <a:t>.</a:t>
            </a:r>
            <a:endParaRPr lang="en-US" altLang="ko-KR" sz="2000" dirty="0">
              <a:ea typeface="프리젠테이션 7 Bold" pitchFamily="2" charset="-127"/>
            </a:endParaRPr>
          </a:p>
          <a:p>
            <a:endParaRPr lang="en-US" altLang="ko-KR" sz="1950" b="0" i="0" u="none" strike="noStrike" baseline="0" dirty="0">
              <a:latin typeface="프리젠테이션 7 Bold" pitchFamily="2" charset="-127"/>
              <a:ea typeface="프리젠테이션 7 Bold" pitchFamily="2" charset="-127"/>
            </a:endParaRPr>
          </a:p>
          <a:p>
            <a:r>
              <a:rPr lang="en-US" altLang="ko-KR" sz="2000" b="1" dirty="0">
                <a:latin typeface="프리젠테이션 7 Bold" pitchFamily="2" charset="-127"/>
                <a:ea typeface="프리젠테이션 7 Bold" pitchFamily="2" charset="-127"/>
              </a:rPr>
              <a:t>&lt;</a:t>
            </a:r>
            <a:r>
              <a:rPr lang="en-US" altLang="ko-KR" sz="2000" b="1" dirty="0" err="1">
                <a:latin typeface="프리젠테이션 7 Bold" pitchFamily="2" charset="-127"/>
                <a:ea typeface="프리젠테이션 7 Bold" pitchFamily="2" charset="-127"/>
              </a:rPr>
              <a:t>hr</a:t>
            </a:r>
            <a:r>
              <a:rPr lang="en-US" altLang="ko-KR" sz="2000" b="1" dirty="0">
                <a:latin typeface="프리젠테이션 7 Bold" pitchFamily="2" charset="-127"/>
                <a:ea typeface="프리젠테이션 7 Bold" pitchFamily="2" charset="-127"/>
              </a:rPr>
              <a:t>&gt;</a:t>
            </a:r>
          </a:p>
          <a:p>
            <a:pPr lvl="1"/>
            <a:r>
              <a:rPr lang="ko-KR" altLang="en-US" sz="2250" dirty="0">
                <a:latin typeface="프리젠테이션 7 Bold" pitchFamily="2" charset="-127"/>
                <a:ea typeface="프리젠테이션 7 Bold" pitchFamily="2" charset="-127"/>
              </a:rPr>
              <a:t>문서의 내용사이에 수평선을 그어 구분</a:t>
            </a:r>
            <a:r>
              <a:rPr lang="en-US" altLang="ko-KR" sz="2250" dirty="0">
                <a:latin typeface="프리젠테이션 7 Bold" pitchFamily="2" charset="-127"/>
                <a:ea typeface="프리젠테이션 7 Bold" pitchFamily="2" charset="-127"/>
              </a:rPr>
              <a:t>.</a:t>
            </a:r>
          </a:p>
          <a:p>
            <a:pPr lvl="1"/>
            <a:r>
              <a:rPr lang="ko-KR" altLang="en-US" sz="2250" dirty="0">
                <a:latin typeface="프리젠테이션 7 Bold" pitchFamily="2" charset="-127"/>
                <a:ea typeface="프리젠테이션 7 Bold" pitchFamily="2" charset="-127"/>
              </a:rPr>
              <a:t>수평선 그은 후</a:t>
            </a:r>
            <a:r>
              <a:rPr lang="en-US" altLang="ko-KR" sz="2250" dirty="0">
                <a:latin typeface="프리젠테이션 7 Bold" pitchFamily="2" charset="-127"/>
                <a:ea typeface="프리젠테이션 7 Bold" pitchFamily="2" charset="-127"/>
              </a:rPr>
              <a:t>, </a:t>
            </a:r>
            <a:r>
              <a:rPr lang="ko-KR" altLang="en-US" sz="2250" dirty="0">
                <a:latin typeface="프리젠테이션 7 Bold" pitchFamily="2" charset="-127"/>
                <a:ea typeface="프리젠테이션 7 Bold" pitchFamily="2" charset="-127"/>
              </a:rPr>
              <a:t>줄 바꿈이 일어난다</a:t>
            </a:r>
            <a:r>
              <a:rPr lang="en-US" altLang="ko-KR" sz="2250" dirty="0">
                <a:latin typeface="프리젠테이션 7 Bold" pitchFamily="2" charset="-127"/>
                <a:ea typeface="프리젠테이션 7 Bold" pitchFamily="2" charset="-127"/>
              </a:rPr>
              <a:t>.</a:t>
            </a:r>
          </a:p>
          <a:p>
            <a:endParaRPr lang="ko-KR" altLang="en-US" sz="1950" b="0" i="0" u="none" strike="noStrike" baseline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08F890-354A-8053-05E4-2088B78E3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90089"/>
            <a:ext cx="6000000" cy="57689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20C1CA-A761-07B2-1B67-4CC8F96A5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278" y="3501497"/>
            <a:ext cx="2421522" cy="326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3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CEA92A7-56F1-5A52-5116-15B674FD3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028" y="3533878"/>
            <a:ext cx="2421522" cy="3266414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9FE8102-565E-F022-094B-99EB20FAE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&lt;strong&gt;</a:t>
            </a:r>
          </a:p>
          <a:p>
            <a:pPr lvl="1"/>
            <a:r>
              <a:rPr lang="ko-KR" altLang="en-US" sz="1850" dirty="0"/>
              <a:t>해당 문장의 중요성을 강조</a:t>
            </a:r>
            <a:r>
              <a:rPr lang="en-US" altLang="ko-KR" sz="1850" dirty="0"/>
              <a:t>.</a:t>
            </a:r>
          </a:p>
          <a:p>
            <a:pPr lvl="1"/>
            <a:r>
              <a:rPr lang="en-US" altLang="ko-KR" sz="1850" dirty="0"/>
              <a:t>bold </a:t>
            </a:r>
            <a:r>
              <a:rPr lang="ko-KR" altLang="en-US" sz="1850" dirty="0"/>
              <a:t>글씨채로 표현</a:t>
            </a:r>
            <a:r>
              <a:rPr lang="en-US" altLang="ko-KR" sz="1850" dirty="0"/>
              <a:t>.</a:t>
            </a:r>
          </a:p>
          <a:p>
            <a:endParaRPr lang="en-US" altLang="ko-KR" sz="2400" dirty="0"/>
          </a:p>
          <a:p>
            <a:r>
              <a:rPr lang="en-US" altLang="ko-KR" sz="2400" b="1" dirty="0"/>
              <a:t>semantic tag</a:t>
            </a:r>
          </a:p>
          <a:p>
            <a:pPr lvl="1"/>
            <a:r>
              <a:rPr lang="ko-KR" altLang="en-US" sz="2250" dirty="0"/>
              <a:t>눈으로 보여지는 것이 중요하지 않음</a:t>
            </a:r>
            <a:r>
              <a:rPr lang="en-US" altLang="ko-KR" sz="2250" dirty="0"/>
              <a:t>.</a:t>
            </a:r>
          </a:p>
          <a:p>
            <a:pPr lvl="1"/>
            <a:r>
              <a:rPr lang="ko-KR" altLang="en-US" sz="2250" b="1" dirty="0"/>
              <a:t>의미가 있는 태그</a:t>
            </a:r>
            <a:r>
              <a:rPr lang="ko-KR" altLang="en-US" sz="2250" dirty="0"/>
              <a:t>를 의미</a:t>
            </a:r>
            <a:r>
              <a:rPr lang="en-US" altLang="ko-KR" sz="2250" dirty="0"/>
              <a:t>.</a:t>
            </a:r>
          </a:p>
          <a:p>
            <a:pPr lvl="1"/>
            <a:r>
              <a:rPr lang="en-US" altLang="ko-KR" sz="2250" dirty="0"/>
              <a:t>&lt;</a:t>
            </a:r>
            <a:r>
              <a:rPr lang="en-US" altLang="ko-KR" sz="2250" dirty="0" err="1"/>
              <a:t>hn</a:t>
            </a:r>
            <a:r>
              <a:rPr lang="en-US" altLang="ko-KR" sz="2250" dirty="0"/>
              <a:t>&gt;</a:t>
            </a:r>
            <a:r>
              <a:rPr lang="ko-KR" altLang="en-US" sz="2250" dirty="0"/>
              <a:t>이 대표적</a:t>
            </a:r>
            <a:r>
              <a:rPr lang="en-US" altLang="ko-KR" sz="2250" dirty="0"/>
              <a:t>.</a:t>
            </a:r>
          </a:p>
          <a:p>
            <a:endParaRPr lang="en-US" altLang="ko-KR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BD4CB2-71EA-C95C-EE40-D450D7B5E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90089"/>
            <a:ext cx="6000000" cy="576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37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EF45341-0890-CAD2-357B-E43E315B0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&lt;</a:t>
            </a:r>
            <a:r>
              <a:rPr lang="en-US" altLang="ko-KR" sz="2000" b="1" dirty="0" err="1"/>
              <a:t>img</a:t>
            </a:r>
            <a:r>
              <a:rPr lang="en-US" altLang="ko-KR" sz="2000" b="1" dirty="0"/>
              <a:t>&gt;</a:t>
            </a:r>
          </a:p>
          <a:p>
            <a:r>
              <a:rPr lang="ko-KR" altLang="en-US" sz="2000" dirty="0"/>
              <a:t>이미지 생성과 관련 태그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 err="1"/>
              <a:t>src</a:t>
            </a:r>
            <a:r>
              <a:rPr lang="en-US" altLang="ko-KR" sz="2000" dirty="0"/>
              <a:t> = </a:t>
            </a:r>
            <a:r>
              <a:rPr lang="ko-KR" altLang="en-US" sz="2000" dirty="0"/>
              <a:t>이미지 위치 경로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alt = </a:t>
            </a:r>
            <a:r>
              <a:rPr lang="ko-KR" altLang="en-US" sz="2000" dirty="0"/>
              <a:t>이미지 깨질 때</a:t>
            </a:r>
            <a:r>
              <a:rPr lang="en-US" altLang="ko-KR" sz="2000" dirty="0"/>
              <a:t>, </a:t>
            </a:r>
            <a:r>
              <a:rPr lang="ko-KR" altLang="en-US" sz="2000" dirty="0"/>
              <a:t>대신 나오는 내용 출력</a:t>
            </a:r>
            <a:r>
              <a:rPr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ADEB7F-7F1A-3566-F5BA-ADEEA63E1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90089"/>
            <a:ext cx="6677025" cy="52768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6AA805-80F6-A10F-043F-AB416B68D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" y="1724025"/>
            <a:ext cx="3449781" cy="51339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542AD7A-2F71-16EA-1BA8-D78A9260C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471" y="4733079"/>
            <a:ext cx="345805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7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C9AB78E-89EB-299B-2787-6F7F2587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&lt;a&gt;</a:t>
            </a:r>
          </a:p>
          <a:p>
            <a:r>
              <a:rPr lang="ko-KR" altLang="en-US" sz="2000" dirty="0"/>
              <a:t>여기서 </a:t>
            </a:r>
            <a:r>
              <a:rPr lang="en-US" altLang="ko-KR" sz="2000" dirty="0"/>
              <a:t>a</a:t>
            </a:r>
            <a:r>
              <a:rPr lang="ko-KR" altLang="en-US" sz="2000" dirty="0"/>
              <a:t>는 </a:t>
            </a:r>
            <a:r>
              <a:rPr lang="en-US" altLang="ko-KR" sz="2000" dirty="0"/>
              <a:t>Anchor(</a:t>
            </a:r>
            <a:r>
              <a:rPr lang="ko-KR" altLang="en-US" sz="2000" dirty="0"/>
              <a:t>앵커</a:t>
            </a:r>
            <a:r>
              <a:rPr lang="en-US" altLang="ko-KR" sz="2000" dirty="0"/>
              <a:t>).</a:t>
            </a:r>
          </a:p>
          <a:p>
            <a:r>
              <a:rPr lang="en-US" altLang="ko-KR" sz="2000" dirty="0" err="1"/>
              <a:t>href</a:t>
            </a:r>
            <a:endParaRPr lang="en-US" altLang="ko-KR" sz="2000" dirty="0"/>
          </a:p>
          <a:p>
            <a:pPr lvl="1"/>
            <a:r>
              <a:rPr lang="en-US" altLang="ko-KR" sz="1850" dirty="0"/>
              <a:t>Hyper Link Reference</a:t>
            </a:r>
          </a:p>
          <a:p>
            <a:pPr lvl="1"/>
            <a:r>
              <a:rPr lang="ko-KR" altLang="en-US" sz="1850" dirty="0"/>
              <a:t>연결할 문서의 위치</a:t>
            </a:r>
            <a:r>
              <a:rPr lang="en-US" altLang="ko-KR" sz="1850" dirty="0"/>
              <a:t>.</a:t>
            </a:r>
          </a:p>
          <a:p>
            <a:r>
              <a:rPr lang="en-US" altLang="ko-KR" sz="2150" dirty="0"/>
              <a:t>name</a:t>
            </a:r>
          </a:p>
          <a:p>
            <a:pPr lvl="1"/>
            <a:r>
              <a:rPr lang="ko-KR" altLang="en-US" sz="2000" dirty="0"/>
              <a:t>페이지내에서 특정부분에 이름을 주고</a:t>
            </a:r>
            <a:r>
              <a:rPr lang="en-US" altLang="ko-KR" sz="2000" dirty="0"/>
              <a:t>(</a:t>
            </a:r>
            <a:r>
              <a:rPr lang="ko-KR" altLang="en-US" sz="2000" dirty="0"/>
              <a:t>임의로</a:t>
            </a:r>
            <a:r>
              <a:rPr lang="en-US" altLang="ko-KR" sz="2000" dirty="0"/>
              <a:t>) </a:t>
            </a:r>
            <a:br>
              <a:rPr lang="en-US" altLang="ko-KR" sz="2000" dirty="0"/>
            </a:br>
            <a:r>
              <a:rPr lang="ko-KR" altLang="en-US" sz="2000" dirty="0"/>
              <a:t>그 부분으로 이동하고자 할 때 사용</a:t>
            </a:r>
            <a:r>
              <a:rPr lang="en-US" altLang="ko-KR" sz="2000" dirty="0"/>
              <a:t>.</a:t>
            </a:r>
          </a:p>
          <a:p>
            <a:endParaRPr lang="en-US" altLang="ko-KR" sz="215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9DFC64-80CB-C86C-B56F-13D301301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340" y="-16191"/>
            <a:ext cx="5943660" cy="612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5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D462-3A47-2F65-F9E7-861F7BA61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8539E59-B2ED-FF50-1CA2-A1F35EE9F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025" y="0"/>
            <a:ext cx="6515186" cy="6710363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CFA4473-DF66-D255-C24C-4876228A9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87"/>
            <a:ext cx="66770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80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9B71-5D1F-7ECD-C3C6-E1D078FE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6E5735E-7228-28BA-131D-E6AD39B32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1" y="1480865"/>
            <a:ext cx="3200847" cy="3896269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AD62EA3-F43B-0F7A-77F2-AD4D8B87E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315" y="1852391"/>
            <a:ext cx="3191320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98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1C3F6-375A-E887-7229-74024C87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12F0AF4-B964-320E-FF7F-9807811DD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&lt;a&gt;</a:t>
            </a:r>
          </a:p>
          <a:p>
            <a:r>
              <a:rPr lang="en-US" altLang="ko-KR" sz="2000" dirty="0" err="1"/>
              <a:t>href</a:t>
            </a:r>
            <a:endParaRPr lang="en-US" altLang="ko-KR" sz="2000" dirty="0"/>
          </a:p>
          <a:p>
            <a:pPr lvl="1"/>
            <a:r>
              <a:rPr lang="en-US" altLang="ko-KR" sz="2000" dirty="0"/>
              <a:t>Hyper Link Reference</a:t>
            </a:r>
          </a:p>
          <a:p>
            <a:pPr lvl="1"/>
            <a:r>
              <a:rPr lang="ko-KR" altLang="en-US" sz="2000" dirty="0"/>
              <a:t>연결할 문서의 위치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name</a:t>
            </a:r>
          </a:p>
          <a:p>
            <a:pPr lvl="1"/>
            <a:r>
              <a:rPr lang="ko-KR" altLang="en-US" sz="2000" dirty="0"/>
              <a:t>페이지내에서 특정부분에 이름을 주고</a:t>
            </a:r>
            <a:r>
              <a:rPr lang="en-US" altLang="ko-KR" sz="2000" dirty="0"/>
              <a:t>(</a:t>
            </a:r>
            <a:r>
              <a:rPr lang="ko-KR" altLang="en-US" sz="2000" dirty="0"/>
              <a:t>임의로</a:t>
            </a:r>
            <a:r>
              <a:rPr lang="en-US" altLang="ko-KR" sz="2000" dirty="0"/>
              <a:t>) </a:t>
            </a:r>
            <a:br>
              <a:rPr lang="en-US" altLang="ko-KR" sz="2000" dirty="0"/>
            </a:br>
            <a:r>
              <a:rPr lang="ko-KR" altLang="en-US" sz="2000" dirty="0"/>
              <a:t>그 부분으로 이동하고자 할 때 사용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target</a:t>
            </a:r>
          </a:p>
          <a:p>
            <a:pPr lvl="1"/>
            <a:r>
              <a:rPr lang="ko-KR" altLang="en-US" sz="1850" dirty="0"/>
              <a:t>링크로 연결할 문서가 실행되는 </a:t>
            </a:r>
            <a:br>
              <a:rPr lang="en-US" altLang="ko-KR" sz="1850" dirty="0"/>
            </a:br>
            <a:r>
              <a:rPr lang="ko-KR" altLang="en-US" sz="1850" dirty="0"/>
              <a:t>브라우저 창의 위치를 지정</a:t>
            </a:r>
            <a:r>
              <a:rPr lang="en-US" altLang="ko-KR" sz="1850" dirty="0"/>
              <a:t>.</a:t>
            </a:r>
          </a:p>
          <a:p>
            <a:r>
              <a:rPr lang="en-US" altLang="ko-KR" sz="2000" dirty="0"/>
              <a:t>target </a:t>
            </a:r>
            <a:r>
              <a:rPr lang="ko-KR" altLang="en-US" sz="2000" dirty="0"/>
              <a:t>종류</a:t>
            </a:r>
            <a:endParaRPr lang="en-US" altLang="ko-KR" sz="2000" dirty="0"/>
          </a:p>
          <a:p>
            <a:pPr lvl="1"/>
            <a:r>
              <a:rPr lang="en-US" altLang="ko-KR" sz="2250" dirty="0"/>
              <a:t>target="_self” -&gt; default.</a:t>
            </a:r>
          </a:p>
          <a:p>
            <a:pPr lvl="2"/>
            <a:r>
              <a:rPr lang="ko-KR" altLang="en-US" sz="2100" dirty="0"/>
              <a:t>링크가 걸린 브라우저에서 실행</a:t>
            </a:r>
            <a:r>
              <a:rPr lang="en-US" altLang="ko-KR" sz="2100" dirty="0"/>
              <a:t>.</a:t>
            </a:r>
            <a:endParaRPr lang="ko-KR" altLang="en-US" sz="2100" dirty="0"/>
          </a:p>
          <a:p>
            <a:pPr lvl="1"/>
            <a:r>
              <a:rPr lang="en-US" altLang="ko-KR" sz="2250" dirty="0"/>
              <a:t>target="_blank“</a:t>
            </a:r>
          </a:p>
          <a:p>
            <a:pPr lvl="2"/>
            <a:r>
              <a:rPr lang="ko-KR" altLang="en-US" sz="2100" dirty="0"/>
              <a:t>새 브라우저에서 실행</a:t>
            </a:r>
            <a:r>
              <a:rPr lang="en-US" altLang="ko-KR" sz="2100" dirty="0"/>
              <a:t>.</a:t>
            </a:r>
            <a:endParaRPr lang="ko-KR" altLang="en-US" sz="2100" dirty="0"/>
          </a:p>
          <a:p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A4173F-E2BF-DA3F-E5A0-4ED457D6F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272" y="90089"/>
            <a:ext cx="5917728" cy="508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44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CB28-7710-81D9-7F48-DD0A8C38D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F2C2F8E-FD4C-5B28-13C7-DA9407098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00"/>
            <a:ext cx="12192000" cy="6604000"/>
          </a:xfrm>
          <a:prstGeom prst="rect">
            <a:avLst/>
          </a:prstGeom>
        </p:spPr>
      </p:pic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37B2F46-3C0B-7911-513D-34CBA1BB7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3470"/>
            <a:ext cx="3496163" cy="2724530"/>
          </a:xfrm>
        </p:spPr>
      </p:pic>
    </p:spTree>
    <p:extLst>
      <p:ext uri="{BB962C8B-B14F-4D97-AF65-F5344CB8AC3E}">
        <p14:creationId xmlns:p14="http://schemas.microsoft.com/office/powerpoint/2010/main" val="1879887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74B9-82F0-D2DD-C428-41A58E6DF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CE7769B-8C74-58E3-7F30-FF883891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ui</a:t>
            </a:r>
            <a:r>
              <a:rPr lang="en-US" altLang="ko-KR" sz="2000" dirty="0"/>
              <a:t>&gt;</a:t>
            </a:r>
          </a:p>
          <a:p>
            <a:pPr lvl="1"/>
            <a:r>
              <a:rPr lang="ko-KR" altLang="en-US" sz="2250" dirty="0"/>
              <a:t>순서가 없는 목록</a:t>
            </a:r>
            <a:r>
              <a:rPr lang="en-US" altLang="ko-KR" sz="2250" dirty="0"/>
              <a:t>.</a:t>
            </a:r>
          </a:p>
          <a:p>
            <a:pPr lvl="1"/>
            <a:r>
              <a:rPr lang="en-US" altLang="ko-KR" sz="2250" dirty="0"/>
              <a:t>Unordered List.</a:t>
            </a:r>
          </a:p>
          <a:p>
            <a:pPr lvl="1"/>
            <a:r>
              <a:rPr lang="ko-KR" altLang="en-US" sz="2250" dirty="0"/>
              <a:t>항목의 앞에 자동으로 붙는 도형이 </a:t>
            </a:r>
            <a:br>
              <a:rPr lang="en-US" altLang="ko-KR" sz="2250" dirty="0"/>
            </a:br>
            <a:r>
              <a:rPr lang="en-US" altLang="ko-KR" sz="2250" dirty="0"/>
              <a:t>1,2,3 </a:t>
            </a:r>
            <a:r>
              <a:rPr lang="ko-KR" altLang="en-US" sz="2250" dirty="0"/>
              <a:t>같은 </a:t>
            </a:r>
            <a:r>
              <a:rPr lang="ko-KR" altLang="en-US" sz="2250" dirty="0" err="1"/>
              <a:t>순서값이</a:t>
            </a:r>
            <a:r>
              <a:rPr lang="ko-KR" altLang="en-US" sz="2250" dirty="0"/>
              <a:t> 아닌 사각형이나 </a:t>
            </a:r>
            <a:br>
              <a:rPr lang="en-US" altLang="ko-KR" sz="2250" dirty="0"/>
            </a:br>
            <a:r>
              <a:rPr lang="ko-KR" altLang="en-US" sz="2250" dirty="0" err="1"/>
              <a:t>원등</a:t>
            </a:r>
            <a:r>
              <a:rPr lang="ko-KR" altLang="en-US" sz="2250" dirty="0"/>
              <a:t> 도형이 붙게 됨</a:t>
            </a:r>
            <a:r>
              <a:rPr lang="en-US" altLang="ko-KR" sz="2250" dirty="0"/>
              <a:t>.</a:t>
            </a:r>
          </a:p>
          <a:p>
            <a:pPr lvl="1"/>
            <a:r>
              <a:rPr lang="en-US" altLang="ko-KR" sz="2250" dirty="0"/>
              <a:t>li</a:t>
            </a:r>
            <a:r>
              <a:rPr lang="ko-KR" altLang="en-US" sz="2250" dirty="0"/>
              <a:t>는 </a:t>
            </a:r>
            <a:r>
              <a:rPr lang="en-US" altLang="ko-KR" sz="2250" dirty="0"/>
              <a:t>List Item</a:t>
            </a:r>
            <a:r>
              <a:rPr lang="ko-KR" altLang="en-US" sz="2250" dirty="0"/>
              <a:t>으로 항목이 됨</a:t>
            </a:r>
            <a:r>
              <a:rPr lang="en-US" altLang="ko-KR" sz="2250" dirty="0"/>
              <a:t>.</a:t>
            </a:r>
          </a:p>
          <a:p>
            <a:pPr lvl="1"/>
            <a:endParaRPr lang="en-US" altLang="ko-KR" sz="2250" dirty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FF98A6-00FB-C280-D3BA-EB9D84CF2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975" y="2157014"/>
            <a:ext cx="6677025" cy="39052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4A3CAF8-E2B4-1DEA-DA12-4B44B3FE2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866" y="3066945"/>
            <a:ext cx="257210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39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CF5DC-2C32-969F-D49F-BFE48C57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DAB0A7E-A0AF-78AB-3273-08A0E3748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&lt;oi&gt;</a:t>
            </a:r>
          </a:p>
          <a:p>
            <a:pPr lvl="1"/>
            <a:r>
              <a:rPr lang="ko-KR" altLang="en-US" sz="2250" dirty="0"/>
              <a:t>순서가 있는 목록</a:t>
            </a:r>
            <a:r>
              <a:rPr lang="en-US" altLang="ko-KR" sz="2250" dirty="0"/>
              <a:t>.</a:t>
            </a:r>
          </a:p>
          <a:p>
            <a:pPr lvl="1"/>
            <a:r>
              <a:rPr lang="en-US" altLang="ko-KR" sz="2250" dirty="0"/>
              <a:t>Ordered Unit</a:t>
            </a:r>
          </a:p>
          <a:p>
            <a:pPr lvl="1"/>
            <a:r>
              <a:rPr lang="ko-KR" altLang="en-US" sz="2250" dirty="0"/>
              <a:t>항목 앞에 자동으로 붙는 도형이 </a:t>
            </a:r>
            <a:br>
              <a:rPr lang="en-US" altLang="ko-KR" sz="2250" dirty="0"/>
            </a:br>
            <a:r>
              <a:rPr lang="en-US" altLang="ko-KR" sz="2250" dirty="0"/>
              <a:t>1, 2, 3</a:t>
            </a:r>
            <a:r>
              <a:rPr lang="ko-KR" altLang="en-US" sz="2250" dirty="0"/>
              <a:t>과 같은 순서 값으로 붙음</a:t>
            </a:r>
            <a:r>
              <a:rPr lang="en-US" altLang="ko-KR" sz="2250" dirty="0"/>
              <a:t>.</a:t>
            </a:r>
          </a:p>
          <a:p>
            <a:pPr lvl="1"/>
            <a:r>
              <a:rPr lang="en-US" altLang="ko-KR" sz="2250" dirty="0"/>
              <a:t>li</a:t>
            </a:r>
            <a:r>
              <a:rPr lang="ko-KR" altLang="en-US" sz="2250" dirty="0"/>
              <a:t>는 </a:t>
            </a:r>
            <a:r>
              <a:rPr lang="en-US" altLang="ko-KR" sz="2250" dirty="0"/>
              <a:t>List Item</a:t>
            </a:r>
            <a:r>
              <a:rPr lang="ko-KR" altLang="en-US" sz="2250" dirty="0"/>
              <a:t>으로 항목이 됨</a:t>
            </a:r>
            <a:r>
              <a:rPr lang="en-US" altLang="ko-KR" sz="2250" dirty="0"/>
              <a:t>.</a:t>
            </a:r>
          </a:p>
          <a:p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96AE47-094B-4268-CF88-687355322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975" y="2466975"/>
            <a:ext cx="6677025" cy="39052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C577F49-D065-72B2-1727-8B4904226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858" y="3429000"/>
            <a:ext cx="2562583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61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FE61-FC9F-DD72-303E-F1025221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76426F3-CE4D-0E69-EE02-14EB526F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&lt;</a:t>
            </a:r>
            <a:r>
              <a:rPr lang="en-US" altLang="ko-KR" sz="2000" b="1" dirty="0" err="1"/>
              <a:t>herf</a:t>
            </a:r>
            <a:r>
              <a:rPr lang="en-US" altLang="ko-KR" sz="2000" b="1" dirty="0"/>
              <a:t>&gt;</a:t>
            </a:r>
          </a:p>
          <a:p>
            <a:r>
              <a:rPr lang="ko-KR" altLang="en-US" sz="2000" dirty="0"/>
              <a:t>책의 책갈피와 동일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해당 파트로 이동할 수 있게 해주는 것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id</a:t>
            </a:r>
            <a:r>
              <a:rPr lang="ko-KR" altLang="en-US" sz="2000" dirty="0"/>
              <a:t>를 사용하며</a:t>
            </a:r>
            <a:r>
              <a:rPr lang="en-US" altLang="ko-KR" sz="2000" dirty="0"/>
              <a:t>, id</a:t>
            </a:r>
            <a:r>
              <a:rPr lang="ko-KR" altLang="en-US" sz="2000" dirty="0"/>
              <a:t>는 중복이 될 수가 없음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&lt;</a:t>
            </a:r>
            <a:r>
              <a:rPr lang="en-US" altLang="ko-KR" sz="2000" dirty="0" err="1"/>
              <a:t>href</a:t>
            </a:r>
            <a:r>
              <a:rPr lang="en-US" altLang="ko-KR" sz="2000" dirty="0"/>
              <a:t> = "~"&gt;</a:t>
            </a:r>
            <a:r>
              <a:rPr lang="ko-KR" altLang="en-US" sz="2000" dirty="0"/>
              <a:t> 형식으로 작성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C03F4D-C76C-D4A6-F2BD-8E55D8D23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888" y="57708"/>
            <a:ext cx="4925112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52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3B81-B2FA-6B68-D1CE-4C023D53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09EB298-C9F6-D7E6-BF6F-93A125C6D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48"/>
            <a:ext cx="4925112" cy="5849166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FD122E-A7F0-A3BC-BCC9-37158CC3E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046" y="68648"/>
            <a:ext cx="3277057" cy="314368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E519187-31CF-4ACA-AE31-2C4F2AF0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046" y="3338276"/>
            <a:ext cx="3524742" cy="33818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A39360D-4DEA-8F4C-F4DB-78BB3A8276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037" y="2481109"/>
            <a:ext cx="3553321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27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D6022EF-7B7A-AE51-445E-FA2E98067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883" y="73817"/>
            <a:ext cx="4155117" cy="6710363"/>
          </a:xfr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F1F818E-DFC2-C1E5-BE78-6FAE4508B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6705"/>
            <a:ext cx="4991797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24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4DB38-CEE3-B900-8695-206B6811C5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BB7B6E-2835-B24D-04BD-73C8349E95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998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10446</TotalTime>
  <Words>710</Words>
  <Application>Microsoft Office PowerPoint</Application>
  <PresentationFormat>와이드스크린</PresentationFormat>
  <Paragraphs>138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Inter</vt:lpstr>
      <vt:lpstr>굴림</vt:lpstr>
      <vt:lpstr>맑은 고딕</vt:lpstr>
      <vt:lpstr>프리젠테이션 7 Bold</vt:lpstr>
      <vt:lpstr>Arial</vt:lpstr>
      <vt:lpstr>Calibri</vt:lpstr>
      <vt:lpstr>Calibri Light</vt:lpstr>
      <vt:lpstr>Wingdings</vt:lpstr>
      <vt:lpstr>Office 테마</vt:lpstr>
      <vt:lpstr>Java 교육 발표자료</vt:lpstr>
      <vt:lpstr>목차</vt:lpstr>
      <vt:lpstr>웹</vt:lpstr>
      <vt:lpstr>PowerPoint 프레젠테이션</vt:lpstr>
      <vt:lpstr>PowerPoint 프레젠테이션</vt:lpstr>
      <vt:lpstr>HTML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</dc:title>
  <dc:creator>GGG</dc:creator>
  <cp:lastModifiedBy>GGG</cp:lastModifiedBy>
  <cp:revision>554</cp:revision>
  <cp:lastPrinted>2020-07-30T08:13:57Z</cp:lastPrinted>
  <dcterms:created xsi:type="dcterms:W3CDTF">2015-02-27T19:17:51Z</dcterms:created>
  <dcterms:modified xsi:type="dcterms:W3CDTF">2025-12-01T10:57:41Z</dcterms:modified>
</cp:coreProperties>
</file>